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32"/>
  </p:notesMasterIdLst>
  <p:handoutMasterIdLst>
    <p:handoutMasterId r:id="rId33"/>
  </p:handoutMasterIdLst>
  <p:sldIdLst>
    <p:sldId id="256" r:id="rId2"/>
    <p:sldId id="317" r:id="rId3"/>
    <p:sldId id="415" r:id="rId4"/>
    <p:sldId id="390" r:id="rId5"/>
    <p:sldId id="391" r:id="rId6"/>
    <p:sldId id="416" r:id="rId7"/>
    <p:sldId id="417" r:id="rId8"/>
    <p:sldId id="418" r:id="rId9"/>
    <p:sldId id="419" r:id="rId10"/>
    <p:sldId id="366" r:id="rId11"/>
    <p:sldId id="369" r:id="rId12"/>
    <p:sldId id="420" r:id="rId13"/>
    <p:sldId id="370" r:id="rId14"/>
    <p:sldId id="372" r:id="rId15"/>
    <p:sldId id="379" r:id="rId16"/>
    <p:sldId id="371" r:id="rId17"/>
    <p:sldId id="376" r:id="rId18"/>
    <p:sldId id="394" r:id="rId19"/>
    <p:sldId id="422" r:id="rId20"/>
    <p:sldId id="423" r:id="rId21"/>
    <p:sldId id="395" r:id="rId22"/>
    <p:sldId id="396" r:id="rId23"/>
    <p:sldId id="421" r:id="rId24"/>
    <p:sldId id="397" r:id="rId25"/>
    <p:sldId id="392" r:id="rId26"/>
    <p:sldId id="378" r:id="rId27"/>
    <p:sldId id="377" r:id="rId28"/>
    <p:sldId id="384" r:id="rId29"/>
    <p:sldId id="386" r:id="rId30"/>
    <p:sldId id="424" r:id="rId31"/>
  </p:sldIdLst>
  <p:sldSz cx="9906000" cy="6858000" type="A4"/>
  <p:notesSz cx="6623050" cy="981075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FF"/>
    <a:srgbClr val="FFFFFF"/>
    <a:srgbClr val="FF9900"/>
    <a:srgbClr val="FF9999"/>
    <a:srgbClr val="000099"/>
    <a:srgbClr val="66CCFF"/>
    <a:srgbClr val="FF99CC"/>
    <a:srgbClr val="0044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1" autoAdjust="0"/>
    <p:restoredTop sz="84011" autoAdjust="0"/>
  </p:normalViewPr>
  <p:slideViewPr>
    <p:cSldViewPr>
      <p:cViewPr varScale="1">
        <p:scale>
          <a:sx n="69" d="100"/>
          <a:sy n="69" d="100"/>
        </p:scale>
        <p:origin x="1675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51263" y="0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69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18625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51263" y="9318625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2D744FAA-45B9-4250-A9F5-D25FF816057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3193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51263" y="0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5638" y="735013"/>
            <a:ext cx="5314950" cy="3679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1988" y="4659313"/>
            <a:ext cx="5299075" cy="441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167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18625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67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51263" y="9318625"/>
            <a:ext cx="28702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816408C8-F5C2-4600-B07D-E7963A03AF2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07066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6408C8-F5C2-4600-B07D-E7963A03AF2A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6432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0231A-A57C-45BE-B38C-3534E5F49516}" type="slidenum">
              <a:rPr lang="es-ES"/>
              <a:pPr/>
              <a:t>2</a:t>
            </a:fld>
            <a:endParaRPr lang="es-E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1864931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0231A-A57C-45BE-B38C-3534E5F49516}" type="slidenum">
              <a:rPr lang="es-ES"/>
              <a:pPr/>
              <a:t>3</a:t>
            </a:fld>
            <a:endParaRPr lang="es-E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1625447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0231A-A57C-45BE-B38C-3534E5F49516}" type="slidenum">
              <a:rPr lang="es-ES"/>
              <a:pPr/>
              <a:t>4</a:t>
            </a:fld>
            <a:endParaRPr lang="es-E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045490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0231A-A57C-45BE-B38C-3534E5F49516}" type="slidenum">
              <a:rPr lang="es-ES"/>
              <a:pPr/>
              <a:t>5</a:t>
            </a:fld>
            <a:endParaRPr lang="es-E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s-ES" dirty="0" smtClean="0">
                <a:effectLst/>
              </a:rPr>
              <a:t>Art. 4.3 LP: A los efectos de la presente Ley, se entenderá por «materia biológica» la materia que contenga información genética </a:t>
            </a:r>
            <a:r>
              <a:rPr lang="es-ES" dirty="0" err="1" smtClean="0">
                <a:effectLst/>
              </a:rPr>
              <a:t>autorreproducible</a:t>
            </a:r>
            <a:r>
              <a:rPr lang="es-ES" dirty="0" smtClean="0">
                <a:effectLst/>
              </a:rPr>
              <a:t> o reproducible en un sistema biológico y por «procedimiento microbiológico» cualquier procedimiento que utilice una materia microbiológica, que incluya una intervención sobre la misma o que produzca una materia microbiológica.</a:t>
            </a:r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1517890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0231A-A57C-45BE-B38C-3534E5F49516}" type="slidenum">
              <a:rPr lang="es-ES"/>
              <a:pPr/>
              <a:t>6</a:t>
            </a:fld>
            <a:endParaRPr lang="es-E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607987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0231A-A57C-45BE-B38C-3534E5F49516}" type="slidenum">
              <a:rPr lang="es-ES"/>
              <a:pPr/>
              <a:t>7</a:t>
            </a:fld>
            <a:endParaRPr lang="es-E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174929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0231A-A57C-45BE-B38C-3534E5F49516}" type="slidenum">
              <a:rPr lang="es-ES"/>
              <a:pPr/>
              <a:t>8</a:t>
            </a:fld>
            <a:endParaRPr lang="es-E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611510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80231A-A57C-45BE-B38C-3534E5F49516}" type="slidenum">
              <a:rPr lang="es-ES"/>
              <a:pPr/>
              <a:t>9</a:t>
            </a:fld>
            <a:endParaRPr lang="es-E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149005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95F9CE-E5B4-4C00-996C-CFF81C1E767A}" type="slidenum">
              <a:rPr lang="es-ES"/>
              <a:pPr/>
              <a:t>10</a:t>
            </a:fld>
            <a:endParaRPr lang="es-E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1224705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F5ACA3-2F72-4F83-AC49-05DB068C2BC7}" type="slidenum">
              <a:rPr lang="es-ES"/>
              <a:pPr/>
              <a:t>11</a:t>
            </a:fld>
            <a:endParaRPr lang="es-E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640537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F5ACA3-2F72-4F83-AC49-05DB068C2BC7}" type="slidenum">
              <a:rPr lang="es-ES"/>
              <a:pPr/>
              <a:t>12</a:t>
            </a:fld>
            <a:endParaRPr lang="es-E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3673102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528E5F-3C15-4B64-B07D-85562F61BF3E}" type="slidenum">
              <a:rPr lang="es-ES"/>
              <a:pPr/>
              <a:t>13</a:t>
            </a:fld>
            <a:endParaRPr lang="es-E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568951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CD6A3-C57C-426B-A5F8-4B0474249A62}" type="slidenum">
              <a:rPr lang="es-ES"/>
              <a:pPr/>
              <a:t>14</a:t>
            </a:fld>
            <a:endParaRPr lang="es-E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049322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E8A2B7-ED86-4DBE-A000-9139588C8740}" type="slidenum">
              <a:rPr lang="es-ES"/>
              <a:pPr/>
              <a:t>15</a:t>
            </a:fld>
            <a:endParaRPr lang="es-E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935574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5429CD-9E12-452F-BC74-35DAD232101C}" type="slidenum">
              <a:rPr lang="es-ES"/>
              <a:pPr/>
              <a:t>16</a:t>
            </a:fld>
            <a:endParaRPr lang="es-E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1478545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1A2304-1F53-4285-9008-ECE408070FA2}" type="slidenum">
              <a:rPr lang="es-ES"/>
              <a:pPr/>
              <a:t>17</a:t>
            </a:fld>
            <a:endParaRPr lang="es-E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607673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EC7EB-174C-4609-A6CF-F13DC03D9CCC}" type="slidenum">
              <a:rPr lang="es-ES"/>
              <a:pPr/>
              <a:t>18</a:t>
            </a:fld>
            <a:endParaRPr lang="es-E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36032805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EC7EB-174C-4609-A6CF-F13DC03D9CCC}" type="slidenum">
              <a:rPr lang="es-ES"/>
              <a:pPr/>
              <a:t>19</a:t>
            </a:fld>
            <a:endParaRPr lang="es-E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746674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EC7EB-174C-4609-A6CF-F13DC03D9CCC}" type="slidenum">
              <a:rPr lang="es-ES"/>
              <a:pPr/>
              <a:t>20</a:t>
            </a:fld>
            <a:endParaRPr lang="es-E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1137702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EC7EB-174C-4609-A6CF-F13DC03D9CCC}" type="slidenum">
              <a:rPr lang="es-ES"/>
              <a:pPr/>
              <a:t>21</a:t>
            </a:fld>
            <a:endParaRPr lang="es-E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924649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EC7EB-174C-4609-A6CF-F13DC03D9CCC}" type="slidenum">
              <a:rPr lang="es-ES"/>
              <a:pPr/>
              <a:t>22</a:t>
            </a:fld>
            <a:endParaRPr lang="es-E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4140640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EC7EB-174C-4609-A6CF-F13DC03D9CCC}" type="slidenum">
              <a:rPr lang="es-ES"/>
              <a:pPr/>
              <a:t>23</a:t>
            </a:fld>
            <a:endParaRPr lang="es-E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530902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EC7EB-174C-4609-A6CF-F13DC03D9CCC}" type="slidenum">
              <a:rPr lang="es-ES"/>
              <a:pPr/>
              <a:t>24</a:t>
            </a:fld>
            <a:endParaRPr lang="es-E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438257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EC7EB-174C-4609-A6CF-F13DC03D9CCC}" type="slidenum">
              <a:rPr lang="es-ES"/>
              <a:pPr/>
              <a:t>25</a:t>
            </a:fld>
            <a:endParaRPr lang="es-E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999133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52A605-7ECC-4DA0-951E-53F9193694A9}" type="slidenum">
              <a:rPr lang="es-ES"/>
              <a:pPr/>
              <a:t>26</a:t>
            </a:fld>
            <a:endParaRPr lang="es-E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2101843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E75A34-5F3E-42D9-BF10-BE2B4CECB293}" type="slidenum">
              <a:rPr lang="es-ES"/>
              <a:pPr/>
              <a:t>27</a:t>
            </a:fld>
            <a:endParaRPr lang="es-E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803178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179C38-05FB-48E9-96EA-E8BC2EA399C0}" type="slidenum">
              <a:rPr lang="es-ES"/>
              <a:pPr/>
              <a:t>28</a:t>
            </a:fld>
            <a:endParaRPr lang="es-E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11550565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FEAE5A-930D-4DB7-93D0-E945D4C25AA6}" type="slidenum">
              <a:rPr lang="es-ES"/>
              <a:pPr/>
              <a:t>29</a:t>
            </a:fld>
            <a:endParaRPr lang="es-E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41594936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FEAE5A-930D-4DB7-93D0-E945D4C25AA6}" type="slidenum">
              <a:rPr lang="es-ES"/>
              <a:pPr/>
              <a:t>30</a:t>
            </a:fld>
            <a:endParaRPr lang="es-E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noProof="1" smtClean="0"/>
          </a:p>
        </p:txBody>
      </p:sp>
    </p:spTree>
    <p:extLst>
      <p:ext uri="{BB962C8B-B14F-4D97-AF65-F5344CB8AC3E}">
        <p14:creationId xmlns:p14="http://schemas.microsoft.com/office/powerpoint/2010/main" val="1168948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742950" y="2393950"/>
            <a:ext cx="84201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s-ES" sz="2400" noProof="1">
              <a:latin typeface="Times New Roman" pitchFamily="18" charset="0"/>
            </a:endParaRPr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990600"/>
            <a:ext cx="84201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cambiar el estilo de título	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68450" y="3429000"/>
            <a:ext cx="75946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9300" y="6248400"/>
            <a:ext cx="206375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16FF89-695F-4A6D-982A-4E9F07610BC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41972-2CCD-4153-A489-7FEE195B788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6CFAF-1146-4630-8A55-EB12FFD7583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14363" y="1752600"/>
            <a:ext cx="4257675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24438" y="1752600"/>
            <a:ext cx="4257675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E97BAB-8A9D-4518-BBB1-535D6DAF82F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666029-A8AD-43DA-9033-FFA9F160020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64CC7-471E-48A5-8E3D-114F9959728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E1F33-3AB2-4D8D-BEFC-9C21EB08848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E49C7-F56C-4176-8609-82848E1C66C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E2D50-89F6-40F1-9B9E-83E6510900E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4DF50-410A-483C-AA74-10B55FA480B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121525" y="304800"/>
            <a:ext cx="2168525" cy="5715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14363" y="304800"/>
            <a:ext cx="6354762" cy="57150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37A06-719E-4D87-B2ED-C02E0B3F17E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2300" y="304800"/>
            <a:ext cx="8667750" cy="1216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14363" y="1752600"/>
            <a:ext cx="4257675" cy="4267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5024438" y="1752600"/>
            <a:ext cx="4257675" cy="20574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5024438" y="3962400"/>
            <a:ext cx="4257675" cy="20574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F0393D-0F97-423B-8E28-EAFBB05AD94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0" y="304800"/>
            <a:ext cx="866775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4363" y="1752600"/>
            <a:ext cx="866775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437252" name="AutoShape 4"/>
          <p:cNvSpPr>
            <a:spLocks noChangeArrowheads="1"/>
          </p:cNvSpPr>
          <p:nvPr/>
        </p:nvSpPr>
        <p:spPr bwMode="auto">
          <a:xfrm>
            <a:off x="660400" y="1566863"/>
            <a:ext cx="8621713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s-ES" sz="2400" noProof="1">
              <a:latin typeface="Times New Roman" pitchFamily="18" charset="0"/>
            </a:endParaRPr>
          </a:p>
        </p:txBody>
      </p:sp>
      <p:sp>
        <p:nvSpPr>
          <p:cNvPr id="437253" name="Line 5"/>
          <p:cNvSpPr>
            <a:spLocks noChangeShapeType="1"/>
          </p:cNvSpPr>
          <p:nvPr/>
        </p:nvSpPr>
        <p:spPr bwMode="auto">
          <a:xfrm flipV="1">
            <a:off x="660400" y="6172200"/>
            <a:ext cx="85852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37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0400" y="6245225"/>
            <a:ext cx="21463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37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37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1463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7714732B-0CDE-412A-B157-030026B8895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po.org/learning-events/materials/kit/download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4489" y="476250"/>
            <a:ext cx="9001000" cy="1584325"/>
          </a:xfrm>
        </p:spPr>
        <p:txBody>
          <a:bodyPr/>
          <a:lstStyle/>
          <a:p>
            <a:pPr algn="ctr" eaLnBrk="1" hangingPunct="1"/>
            <a:r>
              <a:rPr lang="es-ES" sz="3400" b="1" dirty="0" smtClean="0">
                <a:solidFill>
                  <a:schemeClr val="folHlink"/>
                </a:solidFill>
              </a:rPr>
              <a:t>PROTECCIÓN DE LAS INVENCIONES</a:t>
            </a:r>
            <a:endParaRPr lang="es-ES" sz="3400" b="1" dirty="0" smtClean="0">
              <a:solidFill>
                <a:srgbClr val="004432"/>
              </a:solidFill>
            </a:endParaRP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 bwMode="auto">
          <a:xfrm>
            <a:off x="1568624" y="3717032"/>
            <a:ext cx="69342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s-ES" sz="3000" b="0" i="0" u="none" strike="noStrike" kern="0" cap="none" spc="0" normalizeH="0" baseline="0" noProof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Dr. Felipe Palau Ramírez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s-ES" sz="2600" b="0" i="0" u="none" strike="noStrike" kern="0" cap="none" spc="0" normalizeH="0" baseline="0" noProof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Catedrático de Derecho Mercantil Universitat Politècnica de València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FORMAS DE PROTECCIÓN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2" name="Text Box 16"/>
          <p:cNvSpPr txBox="1">
            <a:spLocks noChangeArrowheads="1"/>
          </p:cNvSpPr>
          <p:nvPr/>
        </p:nvSpPr>
        <p:spPr bwMode="auto">
          <a:xfrm>
            <a:off x="1784648" y="1916832"/>
            <a:ext cx="6840760" cy="606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s-ES" sz="2800" b="1" dirty="0">
                <a:solidFill>
                  <a:schemeClr val="accent2"/>
                </a:solidFill>
              </a:rPr>
              <a:t> 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Secreto industrial (competencia desleal)</a:t>
            </a: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Patente (derecho propiedad </a:t>
            </a:r>
            <a:r>
              <a:rPr lang="es-ES" sz="2800" b="1" dirty="0" err="1" smtClean="0">
                <a:solidFill>
                  <a:schemeClr val="folHlink"/>
                </a:solidFill>
              </a:rPr>
              <a:t>ind</a:t>
            </a:r>
            <a:r>
              <a:rPr lang="es-ES" sz="2800" b="1" dirty="0" smtClean="0">
                <a:solidFill>
                  <a:schemeClr val="folHlink"/>
                </a:solidFill>
              </a:rPr>
              <a:t>.)</a:t>
            </a: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Modelo de utilidad (derecho propiedad </a:t>
            </a:r>
            <a:r>
              <a:rPr lang="es-ES" sz="2800" b="1" dirty="0" err="1" smtClean="0">
                <a:solidFill>
                  <a:schemeClr val="folHlink"/>
                </a:solidFill>
              </a:rPr>
              <a:t>ind</a:t>
            </a:r>
            <a:r>
              <a:rPr lang="es-ES" sz="2800" b="1" dirty="0" smtClean="0">
                <a:solidFill>
                  <a:schemeClr val="folHlink"/>
                </a:solidFill>
              </a:rPr>
              <a:t>.)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 smtClean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rgbClr val="FF0000"/>
                </a:solidFill>
              </a:rPr>
              <a:t> </a:t>
            </a:r>
            <a:r>
              <a:rPr lang="es-ES" sz="2800" b="1" dirty="0" smtClean="0">
                <a:solidFill>
                  <a:srgbClr val="002060"/>
                </a:solidFill>
              </a:rPr>
              <a:t>Otras modalidades: obtenciones vegetales, topografías productos semiconductores, ¿software?</a:t>
            </a:r>
            <a:endParaRPr lang="es-ES" sz="2800" b="1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>
            <a:off x="1064568" y="1772816"/>
            <a:ext cx="20190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2800" b="1" noProof="1" smtClean="0">
                <a:solidFill>
                  <a:schemeClr val="accent2"/>
                </a:solidFill>
              </a:rPr>
              <a:t>Invenciones</a:t>
            </a:r>
            <a:endParaRPr lang="es-ES" sz="2800" b="1" noProof="1">
              <a:solidFill>
                <a:schemeClr val="accent2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224" y="91209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  <a:t>RÉGIMEN LEGAL</a:t>
            </a: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2" name="Text Box 16"/>
          <p:cNvSpPr txBox="1">
            <a:spLocks noChangeArrowheads="1"/>
          </p:cNvSpPr>
          <p:nvPr/>
        </p:nvSpPr>
        <p:spPr bwMode="auto">
          <a:xfrm>
            <a:off x="1784648" y="1916832"/>
            <a:ext cx="6840760" cy="572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s-ES" sz="2800" b="1" dirty="0">
                <a:solidFill>
                  <a:schemeClr val="accent2"/>
                </a:solidFill>
              </a:rPr>
              <a:t> 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>
                <a:solidFill>
                  <a:srgbClr val="002060"/>
                </a:solidFill>
              </a:rPr>
              <a:t>Ley 11/1986, de 20 de marzo</a:t>
            </a:r>
            <a:r>
              <a:rPr lang="es-ES" sz="2800" b="1" dirty="0" smtClean="0">
                <a:solidFill>
                  <a:srgbClr val="002060"/>
                </a:solidFill>
              </a:rPr>
              <a:t>, de patentes.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 smtClean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chemeClr val="folHlink"/>
                </a:solidFill>
              </a:rPr>
              <a:t> Ley 24/2015, de 24 de julio, de Patentes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</a:pPr>
            <a:r>
              <a:rPr lang="es-ES" sz="2800" b="1" dirty="0" smtClean="0">
                <a:solidFill>
                  <a:schemeClr val="folHlink"/>
                </a:solidFill>
              </a:rPr>
              <a:t>	Entrada en vigor el 1 de abril de 2017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 smtClean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</a:pPr>
            <a:r>
              <a:rPr lang="es-ES" sz="2800" b="1" dirty="0" smtClean="0">
                <a:solidFill>
                  <a:srgbClr val="FF0000"/>
                </a:solidFill>
              </a:rPr>
              <a:t>Se busca la obtención títulos sólidos, mediante la obligación del examen de la técnica</a:t>
            </a:r>
            <a:endParaRPr lang="es-ES" sz="2800" b="1" dirty="0">
              <a:solidFill>
                <a:srgbClr val="FF0000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>
            <a:off x="1064568" y="1772816"/>
            <a:ext cx="34256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2800" b="1" noProof="1" smtClean="0">
                <a:solidFill>
                  <a:schemeClr val="accent2"/>
                </a:solidFill>
              </a:rPr>
              <a:t>Momento de reforma</a:t>
            </a:r>
            <a:endParaRPr lang="es-ES" sz="2800" b="1" noProof="1">
              <a:solidFill>
                <a:schemeClr val="accent2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3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6130900" cy="1216025"/>
          </a:xfrm>
        </p:spPr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REQUISITOS POSITIVOS DE PATENTABILIDAD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2" name="Text Box 16"/>
          <p:cNvSpPr txBox="1">
            <a:spLocks noChangeArrowheads="1"/>
          </p:cNvSpPr>
          <p:nvPr/>
        </p:nvSpPr>
        <p:spPr bwMode="auto">
          <a:xfrm>
            <a:off x="3440113" y="2492375"/>
            <a:ext cx="4105275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s-ES" sz="2800" b="1">
                <a:solidFill>
                  <a:schemeClr val="accent2"/>
                </a:solidFill>
              </a:rPr>
              <a:t> 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Aplicación industrial.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s-ES" sz="2800" b="1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Novedad.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Altura inventiva.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>
            <a:off x="2700338" y="2192338"/>
            <a:ext cx="24145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2800" b="1" noProof="1">
                <a:solidFill>
                  <a:schemeClr val="accent2"/>
                </a:solidFill>
              </a:rPr>
              <a:t>Artículo 4.1 LP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6130900" cy="1216025"/>
          </a:xfrm>
        </p:spPr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REQUISITOS POSITIVOS DE PATENTABILIDAD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2" name="Text Box 16"/>
          <p:cNvSpPr txBox="1">
            <a:spLocks noChangeArrowheads="1"/>
          </p:cNvSpPr>
          <p:nvPr/>
        </p:nvSpPr>
        <p:spPr bwMode="auto">
          <a:xfrm>
            <a:off x="1640632" y="2060848"/>
            <a:ext cx="8064896" cy="6414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s-ES" sz="2800" b="1" dirty="0">
                <a:solidFill>
                  <a:schemeClr val="accent2"/>
                </a:solidFill>
              </a:rPr>
              <a:t> 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Producto que esté compuesto o contenga materia biológica, o un procedimiento mediante el cual se produzca, transforme o utilice materia biológica.</a:t>
            </a: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La materia biológica aislada de su entorno natural o producida por medio de un procedimiento técnico, aun cuando ya exista anteriormente en estado natural.</a:t>
            </a: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Definiciones materia biotecnológica y procedimiento biotecnológico</a:t>
            </a: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>
            <a:off x="704528" y="1844824"/>
            <a:ext cx="72503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2800" b="1" noProof="1" smtClean="0">
                <a:solidFill>
                  <a:schemeClr val="accent2"/>
                </a:solidFill>
              </a:rPr>
              <a:t>Invenciones biotecnológicas (art. 4.1, 2 y 3 LP)</a:t>
            </a:r>
            <a:endParaRPr lang="es-ES" sz="2800" b="1" noProof="1">
              <a:solidFill>
                <a:schemeClr val="accent2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216" y="111612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6130900" cy="1216025"/>
          </a:xfrm>
        </p:spPr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NO INVENCIONES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2" name="Text Box 16"/>
          <p:cNvSpPr txBox="1">
            <a:spLocks noChangeArrowheads="1"/>
          </p:cNvSpPr>
          <p:nvPr/>
        </p:nvSpPr>
        <p:spPr bwMode="auto">
          <a:xfrm>
            <a:off x="579859" y="1340768"/>
            <a:ext cx="9105453" cy="7792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s-ES" sz="2800" b="1" dirty="0">
                <a:solidFill>
                  <a:schemeClr val="accent2"/>
                </a:solidFill>
              </a:rPr>
              <a:t> 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dirty="0">
                <a:solidFill>
                  <a:srgbClr val="002060"/>
                </a:solidFill>
              </a:rPr>
              <a:t>Los descubrimientos, las teorías científicas y los métodos matemáticos</a:t>
            </a:r>
            <a:r>
              <a:rPr lang="es-ES" sz="2800" dirty="0" smtClean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rgbClr val="002060"/>
                </a:solidFill>
              </a:rPr>
              <a:t> </a:t>
            </a:r>
            <a:r>
              <a:rPr lang="es-ES" sz="2800" dirty="0">
                <a:solidFill>
                  <a:srgbClr val="002060"/>
                </a:solidFill>
              </a:rPr>
              <a:t>Las obras literarias, artísticas o cualquier otra creación estética, así como las obras científicas</a:t>
            </a:r>
            <a:r>
              <a:rPr lang="es-ES" sz="2800" dirty="0" smtClean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rgbClr val="002060"/>
                </a:solidFill>
              </a:rPr>
              <a:t> </a:t>
            </a:r>
            <a:r>
              <a:rPr lang="es-ES" sz="2800" dirty="0">
                <a:solidFill>
                  <a:srgbClr val="002060"/>
                </a:solidFill>
              </a:rPr>
              <a:t>Los planes, reglas y métodos para el ejercicio de actividades intelectuales, para juegos o para actividades económico-comerciales, así como los programas de ordenadores</a:t>
            </a:r>
            <a:r>
              <a:rPr lang="es-ES" sz="2800" dirty="0" smtClean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rgbClr val="002060"/>
                </a:solidFill>
              </a:rPr>
              <a:t> </a:t>
            </a:r>
            <a:r>
              <a:rPr lang="es-ES" sz="2800" dirty="0">
                <a:solidFill>
                  <a:srgbClr val="002060"/>
                </a:solidFill>
              </a:rPr>
              <a:t>Las formas de presentar informaciones</a:t>
            </a:r>
            <a:r>
              <a:rPr lang="es-ES" sz="2800" dirty="0" smtClean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</a:pPr>
            <a:r>
              <a:rPr lang="es-ES" sz="2800" b="1" noProof="1" smtClean="0">
                <a:solidFill>
                  <a:schemeClr val="accent2"/>
                </a:solidFill>
              </a:rPr>
              <a:t>La combinación de estas materias o actividades SÍ puede ser patentable. </a:t>
            </a:r>
            <a:r>
              <a:rPr lang="es-ES" sz="2800" b="1" noProof="1">
                <a:solidFill>
                  <a:schemeClr val="accent2"/>
                </a:solidFill>
              </a:rPr>
              <a:t>(art. </a:t>
            </a:r>
            <a:r>
              <a:rPr lang="es-ES" sz="2800" b="1" noProof="1" smtClean="0">
                <a:solidFill>
                  <a:schemeClr val="accent2"/>
                </a:solidFill>
              </a:rPr>
              <a:t>4.5 LP</a:t>
            </a:r>
            <a:r>
              <a:rPr lang="es-ES" sz="2800" b="1" noProof="1">
                <a:solidFill>
                  <a:schemeClr val="accent2"/>
                </a:solidFill>
              </a:rPr>
              <a:t>)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8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8507164" cy="1216025"/>
          </a:xfrm>
        </p:spPr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EXCEPCIONES A LA PATENTABILIDAD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2" name="Text Box 16"/>
          <p:cNvSpPr txBox="1">
            <a:spLocks noChangeArrowheads="1"/>
          </p:cNvSpPr>
          <p:nvPr/>
        </p:nvSpPr>
        <p:spPr bwMode="auto">
          <a:xfrm>
            <a:off x="579859" y="1340768"/>
            <a:ext cx="9105453" cy="7792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s-ES" sz="2800" b="1" dirty="0">
                <a:solidFill>
                  <a:schemeClr val="accent2"/>
                </a:solidFill>
              </a:rPr>
              <a:t> 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r>
              <a:rPr lang="es-ES" sz="2800" dirty="0" smtClean="0">
                <a:solidFill>
                  <a:srgbClr val="002060"/>
                </a:solidFill>
              </a:rPr>
              <a:t>Invenciones </a:t>
            </a:r>
            <a:r>
              <a:rPr lang="es-ES" sz="2800" b="1" dirty="0" smtClean="0">
                <a:solidFill>
                  <a:srgbClr val="C00000"/>
                </a:solidFill>
              </a:rPr>
              <a:t>contrarias al orden público o a la buena fe</a:t>
            </a:r>
            <a:r>
              <a:rPr lang="es-ES" sz="2800" dirty="0" smtClean="0">
                <a:solidFill>
                  <a:srgbClr val="002060"/>
                </a:solidFill>
              </a:rPr>
              <a:t>, en particular: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rgbClr val="002060"/>
                </a:solidFill>
              </a:rPr>
              <a:t> </a:t>
            </a:r>
            <a:r>
              <a:rPr lang="es-ES" sz="2800" dirty="0" smtClean="0">
                <a:solidFill>
                  <a:srgbClr val="002060"/>
                </a:solidFill>
              </a:rPr>
              <a:t>Procedimientos de clonación de seres humanos.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rgbClr val="002060"/>
                </a:solidFill>
              </a:rPr>
              <a:t> </a:t>
            </a:r>
            <a:r>
              <a:rPr lang="es-ES" sz="2800" dirty="0" smtClean="0">
                <a:solidFill>
                  <a:srgbClr val="002060"/>
                </a:solidFill>
              </a:rPr>
              <a:t>Procedimientos modificación identidad genética germinal del ser humano. 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rgbClr val="002060"/>
                </a:solidFill>
              </a:rPr>
              <a:t> </a:t>
            </a:r>
            <a:r>
              <a:rPr lang="es-ES" sz="2800" dirty="0" smtClean="0">
                <a:solidFill>
                  <a:srgbClr val="002060"/>
                </a:solidFill>
              </a:rPr>
              <a:t>Utilización de embriones humanos con fines industriales o comerciales.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 smtClean="0">
                <a:solidFill>
                  <a:srgbClr val="002060"/>
                </a:solidFill>
              </a:rPr>
              <a:t>Procedimientos de modificación genética animal, cuando implique sufrimiento sin utilidad médica o veterinaria para el hombre o el animal.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216" y="77788"/>
            <a:ext cx="2664296" cy="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8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8507164" cy="1216025"/>
          </a:xfrm>
        </p:spPr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EXCEPCIONES A LA PATENTABILIDAD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2" name="Text Box 16"/>
          <p:cNvSpPr txBox="1">
            <a:spLocks noChangeArrowheads="1"/>
          </p:cNvSpPr>
          <p:nvPr/>
        </p:nvSpPr>
        <p:spPr bwMode="auto">
          <a:xfrm>
            <a:off x="579859" y="1340768"/>
            <a:ext cx="9105453" cy="675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s-ES" sz="2800" b="1" dirty="0">
                <a:solidFill>
                  <a:schemeClr val="accent2"/>
                </a:solidFill>
              </a:rPr>
              <a:t> 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rgbClr val="002060"/>
                </a:solidFill>
              </a:rPr>
              <a:t> </a:t>
            </a:r>
            <a:r>
              <a:rPr lang="es-ES" sz="2800" dirty="0" smtClean="0">
                <a:solidFill>
                  <a:srgbClr val="002060"/>
                </a:solidFill>
              </a:rPr>
              <a:t>Variedades vegetales o razas animales (excepción)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rgbClr val="002060"/>
                </a:solidFill>
              </a:rPr>
              <a:t> </a:t>
            </a:r>
            <a:r>
              <a:rPr lang="es-ES" sz="2800" dirty="0" smtClean="0">
                <a:solidFill>
                  <a:srgbClr val="002060"/>
                </a:solidFill>
              </a:rPr>
              <a:t>Procedimientos esencialmente biológicos de obtención de vegetales o de animales (como el cruce y selección).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 smtClean="0">
                <a:solidFill>
                  <a:srgbClr val="002060"/>
                </a:solidFill>
              </a:rPr>
              <a:t>        </a:t>
            </a:r>
            <a:r>
              <a:rPr lang="es-ES" sz="2800" dirty="0" smtClean="0">
                <a:solidFill>
                  <a:srgbClr val="FF0000"/>
                </a:solidFill>
              </a:rPr>
              <a:t>Excepción: procedimientos microbiológicos o cualquier otro procedimiento técnico o un producto obtenido por dichos procedimientos.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224" y="85159"/>
            <a:ext cx="2664296" cy="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4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8507164" cy="1216025"/>
          </a:xfrm>
        </p:spPr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EXCEPCIONES A LA PATENTABILIDAD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4102" name="Text Box 16"/>
          <p:cNvSpPr txBox="1">
            <a:spLocks noChangeArrowheads="1"/>
          </p:cNvSpPr>
          <p:nvPr/>
        </p:nvSpPr>
        <p:spPr bwMode="auto">
          <a:xfrm>
            <a:off x="579859" y="1340768"/>
            <a:ext cx="9105453" cy="7792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r>
              <a:rPr lang="es-ES" sz="2800" b="1" dirty="0">
                <a:solidFill>
                  <a:schemeClr val="accent2"/>
                </a:solidFill>
              </a:rPr>
              <a:t> </a:t>
            </a:r>
            <a:endParaRPr lang="es-ES" sz="2800" b="1" dirty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rgbClr val="002060"/>
                </a:solidFill>
              </a:rPr>
              <a:t> </a:t>
            </a:r>
            <a:r>
              <a:rPr lang="es-ES" sz="2800" dirty="0" smtClean="0">
                <a:solidFill>
                  <a:srgbClr val="002060"/>
                </a:solidFill>
              </a:rPr>
              <a:t>Los métodos de </a:t>
            </a:r>
            <a:r>
              <a:rPr lang="es-ES" sz="2800" dirty="0">
                <a:solidFill>
                  <a:schemeClr val="folHlink"/>
                </a:solidFill>
              </a:rPr>
              <a:t>tratamiento quirúrgico o terapéutico del cuerpo humano o animal ni los métodos de diagnóstico aplicados al cuerpo humano  </a:t>
            </a:r>
            <a:r>
              <a:rPr lang="es-ES" sz="2800" dirty="0" smtClean="0">
                <a:solidFill>
                  <a:schemeClr val="folHlink"/>
                </a:solidFill>
              </a:rPr>
              <a:t>animal. </a:t>
            </a:r>
            <a:r>
              <a:rPr lang="es-ES" sz="2800" dirty="0" smtClean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rgbClr val="002060"/>
                </a:solidFill>
              </a:rPr>
              <a:t> </a:t>
            </a:r>
            <a:r>
              <a:rPr lang="es-ES" sz="2800" dirty="0" smtClean="0">
                <a:solidFill>
                  <a:srgbClr val="002060"/>
                </a:solidFill>
              </a:rPr>
              <a:t>El cuerpo humano en diferentes estadios de constitución o desarrollo, así como el simple descubrimiento de uno de sus elementos, incluida la secuencia total o parcial de un gen </a:t>
            </a:r>
            <a:r>
              <a:rPr lang="es-ES" sz="2800" dirty="0" smtClean="0">
                <a:solidFill>
                  <a:srgbClr val="C00000"/>
                </a:solidFill>
              </a:rPr>
              <a:t>(excepción: obtención mediante procedimiento técnico + indicación de la aplicación industrial en caso de secuencia total o parcial de un gen + elemento aislado o secuencia genética obtenida por procedimiento técnica).</a:t>
            </a:r>
            <a:endParaRPr lang="es-ES" sz="2800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</a:pPr>
            <a:endParaRPr lang="es-ES" sz="2800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dirty="0">
                <a:solidFill>
                  <a:srgbClr val="002060"/>
                </a:solidFill>
              </a:rPr>
              <a:t> Una mera secuencia de ácido desoxirribonucleico (ADN) sin indicación de función biológica alguna.</a:t>
            </a:r>
            <a:endParaRPr lang="es-ES" sz="2800" b="1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</a:pPr>
            <a:endParaRPr lang="es-ES" sz="2800" b="1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 dirty="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01411"/>
            <a:ext cx="2664296" cy="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0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APLICACIÓN INDUSTRIAL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849313" y="2636838"/>
            <a:ext cx="8766175" cy="222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Invención que puede fabricarse o utilizarse en cualquier clase de industria, incluida la agrícola.</a:t>
            </a:r>
          </a:p>
          <a:p>
            <a:pPr lvl="1">
              <a:buClr>
                <a:schemeClr val="accent2"/>
              </a:buClr>
              <a:buFont typeface="Wingdings" pitchFamily="2" charset="2"/>
              <a:buNone/>
            </a:pPr>
            <a:endParaRPr lang="es-ES" sz="2800" b="1">
              <a:solidFill>
                <a:schemeClr val="folHlink"/>
              </a:solidFill>
            </a:endParaRPr>
          </a:p>
          <a:p>
            <a:pPr lvl="1"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</a:t>
            </a:r>
            <a:r>
              <a:rPr lang="es-ES" sz="2800" b="1" noProof="1">
                <a:solidFill>
                  <a:schemeClr val="folHlink"/>
                </a:solidFill>
              </a:rPr>
              <a:t>Ejecutabilidad</a:t>
            </a:r>
            <a:r>
              <a:rPr lang="es-ES" sz="2800" b="1">
                <a:solidFill>
                  <a:schemeClr val="folHlink"/>
                </a:solidFill>
              </a:rPr>
              <a:t> de la invención industrial para un experto en la materia.</a:t>
            </a:r>
            <a:endParaRPr lang="es-ES" sz="2800" b="1" noProof="1">
              <a:solidFill>
                <a:schemeClr val="folHlink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NOVEDAD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560388" y="1773238"/>
            <a:ext cx="9072562" cy="465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800100" lvl="1" indent="-342900">
              <a:lnSpc>
                <a:spcPct val="80000"/>
              </a:lnSpc>
            </a:pPr>
            <a:endParaRPr lang="es-ES" sz="2400" b="1" dirty="0">
              <a:solidFill>
                <a:schemeClr val="accent2"/>
              </a:solidFill>
            </a:endParaRP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r>
              <a:rPr lang="es-ES" sz="2400" b="1" dirty="0">
                <a:solidFill>
                  <a:schemeClr val="folHlink"/>
                </a:solidFill>
              </a:rPr>
              <a:t>Invención nueva cuando no está comprendida en el </a:t>
            </a:r>
            <a:r>
              <a:rPr lang="es-ES" sz="2400" b="1" dirty="0">
                <a:solidFill>
                  <a:schemeClr val="accent2"/>
                </a:solidFill>
              </a:rPr>
              <a:t>estado de la </a:t>
            </a:r>
            <a:r>
              <a:rPr lang="es-ES" sz="2400" b="1" dirty="0" smtClean="0">
                <a:solidFill>
                  <a:schemeClr val="accent2"/>
                </a:solidFill>
              </a:rPr>
              <a:t>técnica </a:t>
            </a:r>
            <a:r>
              <a:rPr lang="es-ES" sz="2400" b="1" dirty="0" smtClean="0">
                <a:solidFill>
                  <a:srgbClr val="002060"/>
                </a:solidFill>
              </a:rPr>
              <a:t>antes de la fecha de presentación de la solicitud</a:t>
            </a:r>
            <a:endParaRPr lang="es-ES" sz="2400" b="1" dirty="0">
              <a:solidFill>
                <a:schemeClr val="accent2"/>
              </a:solidFill>
            </a:endParaRP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endParaRPr lang="es-ES" sz="2400" b="1" dirty="0">
              <a:solidFill>
                <a:schemeClr val="accent2"/>
              </a:solidFill>
            </a:endParaRP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r>
              <a:rPr lang="es-ES" sz="2400" b="1" dirty="0">
                <a:solidFill>
                  <a:schemeClr val="folHlink"/>
                </a:solidFill>
              </a:rPr>
              <a:t>Estado de la técnica: </a:t>
            </a: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</a:pPr>
            <a:endParaRPr lang="es-ES" sz="2400" b="1" dirty="0">
              <a:solidFill>
                <a:schemeClr val="folHlink"/>
              </a:solidFill>
            </a:endParaRPr>
          </a:p>
          <a:p>
            <a:pPr marL="2171700" lvl="4" indent="-342900">
              <a:lnSpc>
                <a:spcPct val="80000"/>
              </a:lnSpc>
              <a:buClr>
                <a:schemeClr val="accent2"/>
              </a:buClr>
              <a:buSzPct val="80000"/>
              <a:buFont typeface="Wingdings" pitchFamily="2" charset="2"/>
              <a:buChar char="§"/>
            </a:pPr>
            <a:r>
              <a:rPr lang="es-ES" sz="2400" b="1" dirty="0">
                <a:solidFill>
                  <a:schemeClr val="accent2"/>
                </a:solidFill>
              </a:rPr>
              <a:t>accesible al público</a:t>
            </a:r>
            <a:r>
              <a:rPr lang="es-ES" sz="2400" b="1" dirty="0">
                <a:solidFill>
                  <a:schemeClr val="folHlink"/>
                </a:solidFill>
              </a:rPr>
              <a:t> en España o el extranjero antes de la fecha de solicitud</a:t>
            </a:r>
          </a:p>
          <a:p>
            <a:pPr marL="2171700" lvl="4" indent="-342900">
              <a:lnSpc>
                <a:spcPct val="80000"/>
              </a:lnSpc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s-ES" sz="2400" b="1" dirty="0">
              <a:solidFill>
                <a:schemeClr val="folHlink"/>
              </a:solidFill>
            </a:endParaRPr>
          </a:p>
          <a:p>
            <a:pPr marL="2171700" lvl="4" indent="-342900">
              <a:lnSpc>
                <a:spcPct val="80000"/>
              </a:lnSpc>
              <a:buClr>
                <a:schemeClr val="accent2"/>
              </a:buClr>
              <a:buSzPct val="80000"/>
              <a:buFont typeface="Wingdings" pitchFamily="2" charset="2"/>
              <a:buChar char="§"/>
            </a:pPr>
            <a:r>
              <a:rPr lang="es-ES" sz="2400" b="1" dirty="0">
                <a:solidFill>
                  <a:schemeClr val="folHlink"/>
                </a:solidFill>
              </a:rPr>
              <a:t>incluidas solicitudes españolas de patentes o de modelos de </a:t>
            </a:r>
            <a:r>
              <a:rPr lang="es-ES" sz="2400" b="1" dirty="0" smtClean="0">
                <a:solidFill>
                  <a:schemeClr val="folHlink"/>
                </a:solidFill>
              </a:rPr>
              <a:t>utilidad, </a:t>
            </a:r>
            <a:r>
              <a:rPr lang="es-ES" sz="2400" b="1" dirty="0" smtClean="0">
                <a:solidFill>
                  <a:srgbClr val="FF0000"/>
                </a:solidFill>
              </a:rPr>
              <a:t>solicitudes europeas que designes España y solicitudes PCT que hayan entrado en fase nacional en España.</a:t>
            </a:r>
            <a:endParaRPr lang="es-ES" sz="2400" b="1" dirty="0">
              <a:solidFill>
                <a:schemeClr val="folHlink"/>
              </a:solidFill>
            </a:endParaRPr>
          </a:p>
          <a:p>
            <a:pPr marL="800100" lvl="1" indent="-342900" algn="just"/>
            <a:r>
              <a:rPr lang="es-ES" sz="2800" b="1" dirty="0">
                <a:solidFill>
                  <a:schemeClr val="accent2"/>
                </a:solidFill>
              </a:rPr>
              <a:t>	</a:t>
            </a:r>
            <a:endParaRPr lang="es-ES" sz="2800" b="1" i="1" noProof="1">
              <a:solidFill>
                <a:schemeClr val="folHlink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54" y="170153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NOVEDAD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-159568" y="2492896"/>
            <a:ext cx="9072562" cy="2505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2">
              <a:lnSpc>
                <a:spcPct val="80000"/>
              </a:lnSpc>
              <a:buClr>
                <a:schemeClr val="accent2"/>
              </a:buClr>
            </a:pPr>
            <a:r>
              <a:rPr lang="es-ES" sz="2400" b="1" dirty="0" smtClean="0">
                <a:solidFill>
                  <a:srgbClr val="002060"/>
                </a:solidFill>
              </a:rPr>
              <a:t>Se reconoce expresamente la patentabilidad </a:t>
            </a:r>
            <a:r>
              <a:rPr lang="es-ES" sz="2400" b="1" dirty="0" smtClean="0">
                <a:solidFill>
                  <a:srgbClr val="C00000"/>
                </a:solidFill>
              </a:rPr>
              <a:t>de nuevos usos de sustancias o composiciones</a:t>
            </a:r>
            <a:r>
              <a:rPr lang="es-ES" sz="2400" b="1" dirty="0" smtClean="0">
                <a:solidFill>
                  <a:srgbClr val="002060"/>
                </a:solidFill>
              </a:rPr>
              <a:t> ya comprendidas en el estado de la técnica.</a:t>
            </a:r>
            <a:endParaRPr lang="es-ES" sz="2400" b="1" dirty="0">
              <a:solidFill>
                <a:srgbClr val="002060"/>
              </a:solidFill>
            </a:endParaRP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</a:pPr>
            <a:endParaRPr lang="es-ES" sz="2400" b="1" dirty="0">
              <a:solidFill>
                <a:srgbClr val="002060"/>
              </a:solidFill>
            </a:endParaRPr>
          </a:p>
          <a:p>
            <a:pPr marL="2171700" lvl="4" indent="-342900">
              <a:lnSpc>
                <a:spcPct val="80000"/>
              </a:lnSpc>
              <a:buClr>
                <a:schemeClr val="accent2"/>
              </a:buClr>
              <a:buSzPct val="80000"/>
              <a:buFont typeface="Wingdings" pitchFamily="2" charset="2"/>
              <a:buChar char="§"/>
            </a:pPr>
            <a:r>
              <a:rPr lang="es-ES" sz="2400" b="1" dirty="0" smtClean="0">
                <a:solidFill>
                  <a:srgbClr val="002060"/>
                </a:solidFill>
              </a:rPr>
              <a:t>En particular </a:t>
            </a:r>
            <a:r>
              <a:rPr lang="es-ES" sz="2400" dirty="0" smtClean="0">
                <a:solidFill>
                  <a:srgbClr val="002060"/>
                </a:solidFill>
              </a:rPr>
              <a:t>respecto para su uso en </a:t>
            </a:r>
            <a:r>
              <a:rPr lang="es-ES" sz="2400" dirty="0">
                <a:solidFill>
                  <a:srgbClr val="002060"/>
                </a:solidFill>
              </a:rPr>
              <a:t>l</a:t>
            </a:r>
            <a:r>
              <a:rPr lang="es-ES" sz="2400" dirty="0" smtClean="0">
                <a:solidFill>
                  <a:srgbClr val="002060"/>
                </a:solidFill>
              </a:rPr>
              <a:t>os </a:t>
            </a:r>
            <a:r>
              <a:rPr lang="es-ES" sz="2400" dirty="0">
                <a:solidFill>
                  <a:srgbClr val="002060"/>
                </a:solidFill>
              </a:rPr>
              <a:t>métodos de tratamiento quirúrgico o </a:t>
            </a:r>
            <a:r>
              <a:rPr lang="es-ES" sz="2400" b="1" dirty="0">
                <a:solidFill>
                  <a:srgbClr val="C00000"/>
                </a:solidFill>
              </a:rPr>
              <a:t>terapéutico</a:t>
            </a:r>
            <a:r>
              <a:rPr lang="es-ES" sz="2400" dirty="0">
                <a:solidFill>
                  <a:srgbClr val="002060"/>
                </a:solidFill>
              </a:rPr>
              <a:t> del cuerpo humano o animal, y los métodos de diagnóstico aplicados al cuerpo humano o animal. </a:t>
            </a:r>
            <a:r>
              <a:rPr lang="es-ES" sz="2800" b="1" dirty="0" smtClean="0">
                <a:solidFill>
                  <a:srgbClr val="002060"/>
                </a:solidFill>
              </a:rPr>
              <a:t>	</a:t>
            </a:r>
            <a:endParaRPr lang="es-ES" sz="2800" b="1" i="1" noProof="1">
              <a:solidFill>
                <a:srgbClr val="002060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77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NOVEDAD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44488" y="2133600"/>
            <a:ext cx="9288462" cy="4265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800100" lvl="1" indent="-342900">
              <a:lnSpc>
                <a:spcPct val="80000"/>
              </a:lnSpc>
            </a:pPr>
            <a:endParaRPr lang="es-ES" sz="2400" b="1" dirty="0">
              <a:solidFill>
                <a:schemeClr val="accent2"/>
              </a:solidFill>
            </a:endParaRPr>
          </a:p>
          <a:p>
            <a:pPr marL="800100" lvl="1" indent="-342900">
              <a:lnSpc>
                <a:spcPct val="80000"/>
              </a:lnSpc>
            </a:pPr>
            <a:r>
              <a:rPr lang="es-ES" sz="2800" b="1" dirty="0">
                <a:solidFill>
                  <a:schemeClr val="folHlink"/>
                </a:solidFill>
              </a:rPr>
              <a:t>Divulgaciones que no integran el estado de la </a:t>
            </a:r>
            <a:r>
              <a:rPr lang="es-ES" sz="2800" b="1" dirty="0" smtClean="0">
                <a:solidFill>
                  <a:schemeClr val="folHlink"/>
                </a:solidFill>
              </a:rPr>
              <a:t>técnica </a:t>
            </a:r>
          </a:p>
          <a:p>
            <a:pPr marL="800100" lvl="1" indent="-342900">
              <a:lnSpc>
                <a:spcPct val="80000"/>
              </a:lnSpc>
            </a:pPr>
            <a:r>
              <a:rPr lang="es-ES" sz="2800" b="1" dirty="0" smtClean="0">
                <a:solidFill>
                  <a:schemeClr val="folHlink"/>
                </a:solidFill>
              </a:rPr>
              <a:t>(6 meses): </a:t>
            </a:r>
            <a:endParaRPr lang="es-ES" sz="2800" b="1" dirty="0">
              <a:solidFill>
                <a:schemeClr val="accent2"/>
              </a:solidFill>
            </a:endParaRPr>
          </a:p>
          <a:p>
            <a:pPr marL="800100" lvl="1" indent="-342900">
              <a:lnSpc>
                <a:spcPct val="80000"/>
              </a:lnSpc>
            </a:pPr>
            <a:endParaRPr lang="es-ES" sz="2800" b="1" dirty="0">
              <a:solidFill>
                <a:schemeClr val="accent2"/>
              </a:solidFill>
            </a:endParaRP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r>
              <a:rPr lang="es-ES" sz="2800" b="1" dirty="0">
                <a:solidFill>
                  <a:schemeClr val="folHlink"/>
                </a:solidFill>
              </a:rPr>
              <a:t>Supuestos de abuso </a:t>
            </a:r>
            <a:r>
              <a:rPr lang="es-ES" sz="2800" b="1" dirty="0" smtClean="0">
                <a:solidFill>
                  <a:schemeClr val="folHlink"/>
                </a:solidFill>
              </a:rPr>
              <a:t>evidente frente </a:t>
            </a:r>
            <a:r>
              <a:rPr lang="es-ES" sz="2800" b="1" dirty="0">
                <a:solidFill>
                  <a:schemeClr val="folHlink"/>
                </a:solidFill>
              </a:rPr>
              <a:t>al solicitante o causahabientes.</a:t>
            </a: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endParaRPr lang="es-ES" sz="2800" b="1" dirty="0">
              <a:solidFill>
                <a:schemeClr val="accent2"/>
              </a:solidFill>
            </a:endParaRP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r>
              <a:rPr lang="es-ES" sz="2800" b="1" dirty="0">
                <a:solidFill>
                  <a:schemeClr val="folHlink"/>
                </a:solidFill>
              </a:rPr>
              <a:t>Exhibiciones de la invención en exposiciones.</a:t>
            </a: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endParaRPr lang="es-ES" sz="2800" b="1" dirty="0">
              <a:solidFill>
                <a:schemeClr val="folHlink"/>
              </a:solidFill>
            </a:endParaRP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r>
              <a:rPr lang="es-ES" sz="2800" i="1" dirty="0">
                <a:solidFill>
                  <a:schemeClr val="folHlink"/>
                </a:solidFill>
              </a:rPr>
              <a:t>Ensayos efectuados por el solicitante o </a:t>
            </a:r>
            <a:r>
              <a:rPr lang="es-ES" sz="2800" i="1" dirty="0" smtClean="0">
                <a:solidFill>
                  <a:schemeClr val="folHlink"/>
                </a:solidFill>
              </a:rPr>
              <a:t>causahabiente </a:t>
            </a:r>
          </a:p>
          <a:p>
            <a:pPr lvl="2">
              <a:lnSpc>
                <a:spcPct val="80000"/>
              </a:lnSpc>
              <a:buClr>
                <a:schemeClr val="accent2"/>
              </a:buClr>
            </a:pPr>
            <a:r>
              <a:rPr lang="es-ES" sz="2800" i="1" dirty="0">
                <a:solidFill>
                  <a:schemeClr val="folHlink"/>
                </a:solidFill>
              </a:rPr>
              <a:t> </a:t>
            </a:r>
            <a:r>
              <a:rPr lang="es-ES" sz="2800" i="1" dirty="0" smtClean="0">
                <a:solidFill>
                  <a:schemeClr val="folHlink"/>
                </a:solidFill>
              </a:rPr>
              <a:t>   (desaparece en Ley 2015).</a:t>
            </a:r>
            <a:endParaRPr lang="es-ES" sz="2800" i="1" dirty="0">
              <a:solidFill>
                <a:schemeClr val="folHlink"/>
              </a:solidFill>
            </a:endParaRPr>
          </a:p>
          <a:p>
            <a:pPr marL="800100" lvl="1" indent="-342900" algn="just"/>
            <a:r>
              <a:rPr lang="es-ES" sz="2800" b="1" dirty="0">
                <a:solidFill>
                  <a:schemeClr val="accent2"/>
                </a:solidFill>
              </a:rPr>
              <a:t>	</a:t>
            </a:r>
            <a:endParaRPr lang="es-ES" sz="2800" b="1" i="1" noProof="1">
              <a:solidFill>
                <a:schemeClr val="folHlink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ACTIVIDAD INVENTIVA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352550" y="2205038"/>
            <a:ext cx="7273925" cy="222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/>
            <a:endParaRPr lang="es-ES" sz="2800" b="1">
              <a:solidFill>
                <a:schemeClr val="accent2"/>
              </a:solidFill>
            </a:endParaRPr>
          </a:p>
          <a:p>
            <a:pPr lvl="1"/>
            <a:endParaRPr lang="es-ES" sz="2800" b="1">
              <a:solidFill>
                <a:schemeClr val="accent2"/>
              </a:solidFill>
            </a:endParaRPr>
          </a:p>
          <a:p>
            <a:pPr lvl="1" algn="just"/>
            <a:r>
              <a:rPr lang="es-ES" sz="2800" b="1">
                <a:solidFill>
                  <a:schemeClr val="accent2"/>
                </a:solidFill>
              </a:rPr>
              <a:t>	</a:t>
            </a:r>
            <a:r>
              <a:rPr lang="es-ES" sz="2800" b="1">
                <a:solidFill>
                  <a:schemeClr val="folHlink"/>
                </a:solidFill>
              </a:rPr>
              <a:t>Invención que</a:t>
            </a:r>
            <a:r>
              <a:rPr lang="es-ES" sz="2800" b="1" i="1">
                <a:solidFill>
                  <a:schemeClr val="folHlink"/>
                </a:solidFill>
              </a:rPr>
              <a:t> </a:t>
            </a:r>
            <a:r>
              <a:rPr lang="es-ES" sz="2800" b="1">
                <a:solidFill>
                  <a:schemeClr val="accent2"/>
                </a:solidFill>
              </a:rPr>
              <a:t>no resulta</a:t>
            </a:r>
            <a:r>
              <a:rPr lang="es-ES" sz="2800" b="1">
                <a:solidFill>
                  <a:schemeClr val="folHlink"/>
                </a:solidFill>
              </a:rPr>
              <a:t> del estado de la técnica </a:t>
            </a:r>
            <a:r>
              <a:rPr lang="es-ES" sz="2800" b="1">
                <a:solidFill>
                  <a:schemeClr val="accent2"/>
                </a:solidFill>
              </a:rPr>
              <a:t>de una manera evidente</a:t>
            </a:r>
            <a:r>
              <a:rPr lang="es-ES" sz="2800" b="1">
                <a:solidFill>
                  <a:schemeClr val="folHlink"/>
                </a:solidFill>
              </a:rPr>
              <a:t> para un experto en la materia.</a:t>
            </a:r>
            <a:endParaRPr lang="es-ES" sz="2800" b="1" noProof="1">
              <a:solidFill>
                <a:schemeClr val="folHlink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NOVEDAD Y ACTIVIDAD INVENTIVA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631825" y="2133600"/>
            <a:ext cx="8766175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/>
            <a:r>
              <a:rPr lang="es-ES" sz="2800" b="1">
                <a:solidFill>
                  <a:schemeClr val="folHlink"/>
                </a:solidFill>
              </a:rPr>
              <a:t>Requisitos comparativos</a:t>
            </a:r>
          </a:p>
          <a:p>
            <a:pPr lvl="1"/>
            <a:endParaRPr lang="es-ES" sz="2800" b="1">
              <a:solidFill>
                <a:schemeClr val="folHlink"/>
              </a:solidFill>
            </a:endParaRPr>
          </a:p>
          <a:p>
            <a:pPr lvl="2"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</a:t>
            </a:r>
            <a:r>
              <a:rPr lang="es-ES" sz="2800" b="1">
                <a:solidFill>
                  <a:schemeClr val="accent2"/>
                </a:solidFill>
              </a:rPr>
              <a:t>Novedad: </a:t>
            </a:r>
            <a:r>
              <a:rPr lang="es-ES" sz="2800" b="1">
                <a:solidFill>
                  <a:schemeClr val="folHlink"/>
                </a:solidFill>
              </a:rPr>
              <a:t>comparación individual.</a:t>
            </a:r>
          </a:p>
          <a:p>
            <a:pPr lvl="1">
              <a:buClr>
                <a:schemeClr val="accent2"/>
              </a:buClr>
              <a:buFont typeface="Wingdings" pitchFamily="2" charset="2"/>
              <a:buNone/>
            </a:pPr>
            <a:endParaRPr lang="es-ES" sz="2800" b="1">
              <a:solidFill>
                <a:schemeClr val="folHlink"/>
              </a:solidFill>
            </a:endParaRPr>
          </a:p>
          <a:p>
            <a:pPr lvl="2"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</a:t>
            </a:r>
            <a:r>
              <a:rPr lang="es-ES" sz="2800" b="1">
                <a:solidFill>
                  <a:schemeClr val="accent2"/>
                </a:solidFill>
              </a:rPr>
              <a:t>Actividad inventiva: </a:t>
            </a:r>
            <a:r>
              <a:rPr lang="es-ES" sz="2800" b="1">
                <a:solidFill>
                  <a:schemeClr val="folHlink"/>
                </a:solidFill>
              </a:rPr>
              <a:t>comparación relacional y de 	conjunto              </a:t>
            </a:r>
            <a:r>
              <a:rPr lang="es-ES" sz="2800">
                <a:solidFill>
                  <a:schemeClr val="folHlink"/>
                </a:solidFill>
              </a:rPr>
              <a:t>solicitudes no IET a estos 	efectos</a:t>
            </a:r>
          </a:p>
          <a:p>
            <a:pPr lvl="1">
              <a:buClr>
                <a:schemeClr val="accent2"/>
              </a:buClr>
              <a:buFont typeface="Wingdings" pitchFamily="2" charset="2"/>
              <a:buNone/>
            </a:pPr>
            <a:endParaRPr lang="es-ES" sz="2800" noProof="1">
              <a:solidFill>
                <a:schemeClr val="folHlink"/>
              </a:solidFill>
            </a:endParaRPr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4232275" y="4581525"/>
            <a:ext cx="576263" cy="0"/>
          </a:xfrm>
          <a:prstGeom prst="line">
            <a:avLst/>
          </a:prstGeom>
          <a:noFill/>
          <a:ln w="222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168900" y="43656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ES" noProof="1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224" y="101411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INFORME ESTADO DE LA TÉCNICA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pic>
        <p:nvPicPr>
          <p:cNvPr id="11271" name="Picture 11" descr="ITL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440113" y="1844675"/>
            <a:ext cx="3016250" cy="4267200"/>
          </a:xfrm>
          <a:noFill/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208" y="112562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INFORME ESTADO DE LA TÉCNICA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1784350" y="2060575"/>
            <a:ext cx="6696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800" b="1" u="sng">
                <a:solidFill>
                  <a:schemeClr val="folHlink"/>
                </a:solidFill>
              </a:rPr>
              <a:t>Categoría de los documentos citados</a:t>
            </a:r>
            <a:endParaRPr lang="es-ES" sz="2800" b="1" u="sng" noProof="1">
              <a:solidFill>
                <a:schemeClr val="folHlink"/>
              </a:solidFill>
            </a:endParaRP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704850" y="2986088"/>
            <a:ext cx="374332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s-ES" sz="2400" b="1">
                <a:solidFill>
                  <a:schemeClr val="accent2"/>
                </a:solidFill>
              </a:rPr>
              <a:t>X</a:t>
            </a:r>
            <a:r>
              <a:rPr lang="es-ES" sz="2400" b="1">
                <a:solidFill>
                  <a:schemeClr val="folHlink"/>
                </a:solidFill>
              </a:rPr>
              <a:t>: de particular relevancia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s-ES" sz="2400" b="1">
                <a:solidFill>
                  <a:schemeClr val="accent2"/>
                </a:solidFill>
              </a:rPr>
              <a:t>Y</a:t>
            </a:r>
            <a:r>
              <a:rPr lang="es-ES" sz="2400" b="1">
                <a:solidFill>
                  <a:schemeClr val="folHlink"/>
                </a:solidFill>
              </a:rPr>
              <a:t>: de particular relevancia combinado con otro/s de la misma categoría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s-ES" sz="2400" b="1">
                <a:solidFill>
                  <a:schemeClr val="accent2"/>
                </a:solidFill>
              </a:rPr>
              <a:t>A</a:t>
            </a:r>
            <a:r>
              <a:rPr lang="es-ES" sz="2400" b="1">
                <a:solidFill>
                  <a:schemeClr val="folHlink"/>
                </a:solidFill>
              </a:rPr>
              <a:t>: refleja el estado de la técnica</a:t>
            </a:r>
          </a:p>
        </p:txBody>
      </p:sp>
      <p:sp>
        <p:nvSpPr>
          <p:cNvPr id="12297" name="Text Box 10"/>
          <p:cNvSpPr txBox="1">
            <a:spLocks noChangeArrowheads="1"/>
          </p:cNvSpPr>
          <p:nvPr/>
        </p:nvSpPr>
        <p:spPr bwMode="auto">
          <a:xfrm>
            <a:off x="4808538" y="2708275"/>
            <a:ext cx="424815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s-ES" sz="2400" b="1">
                <a:solidFill>
                  <a:schemeClr val="accent2"/>
                </a:solidFill>
              </a:rPr>
              <a:t>O</a:t>
            </a:r>
            <a:r>
              <a:rPr lang="es-ES" sz="2400" b="1">
                <a:solidFill>
                  <a:schemeClr val="folHlink"/>
                </a:solidFill>
              </a:rPr>
              <a:t>: referido a divulgación no escrita</a:t>
            </a:r>
          </a:p>
          <a:p>
            <a:pPr>
              <a:lnSpc>
                <a:spcPct val="80000"/>
              </a:lnSpc>
            </a:pPr>
            <a:endParaRPr lang="es-ES" sz="2400" b="1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</a:pPr>
            <a:r>
              <a:rPr lang="es-ES" sz="2400" b="1">
                <a:solidFill>
                  <a:schemeClr val="accent2"/>
                </a:solidFill>
              </a:rPr>
              <a:t>P</a:t>
            </a:r>
            <a:r>
              <a:rPr lang="es-ES" sz="2400" b="1">
                <a:solidFill>
                  <a:schemeClr val="folHlink"/>
                </a:solidFill>
              </a:rPr>
              <a:t>: publicado entre la fecha de prioridad y la de presentación de la solicitud</a:t>
            </a:r>
          </a:p>
          <a:p>
            <a:pPr>
              <a:lnSpc>
                <a:spcPct val="80000"/>
              </a:lnSpc>
            </a:pPr>
            <a:endParaRPr lang="es-ES" sz="2400" b="1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</a:pPr>
            <a:r>
              <a:rPr lang="es-ES" sz="2400" b="1">
                <a:solidFill>
                  <a:schemeClr val="accent2"/>
                </a:solidFill>
              </a:rPr>
              <a:t>A</a:t>
            </a:r>
            <a:r>
              <a:rPr lang="es-ES" sz="2400" b="1">
                <a:solidFill>
                  <a:schemeClr val="folHlink"/>
                </a:solidFill>
              </a:rPr>
              <a:t>: documento anterior, publicado después de la fecha de presentación de la solicitud.</a:t>
            </a:r>
          </a:p>
          <a:p>
            <a:endParaRPr lang="es-ES" sz="240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5050780" cy="1216025"/>
          </a:xfrm>
        </p:spPr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PROCEDIMIENTOS DE CONCESIÓN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632520" y="1556792"/>
            <a:ext cx="9505056" cy="4358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endParaRPr lang="es-ES" sz="2800" b="1" u="sng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chemeClr val="folHlink"/>
                </a:solidFill>
              </a:rPr>
              <a:t> Procedimiento general de concesión 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endParaRPr lang="es-ES" sz="2800" b="1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Procedimiento de concesión con examen previo </a:t>
            </a:r>
            <a:r>
              <a:rPr lang="es-ES" sz="2800" b="1" dirty="0" smtClean="0">
                <a:solidFill>
                  <a:srgbClr val="C00000"/>
                </a:solidFill>
              </a:rPr>
              <a:t>(único procedimiento a partir abril 2017 = IET + opinión escrita  = patentes más fuertes – art. </a:t>
            </a:r>
            <a:r>
              <a:rPr lang="es-ES" sz="2800" b="1" smtClean="0">
                <a:solidFill>
                  <a:srgbClr val="C00000"/>
                </a:solidFill>
              </a:rPr>
              <a:t>35 y 36 </a:t>
            </a:r>
            <a:r>
              <a:rPr lang="es-ES" sz="2800" b="1" dirty="0" smtClean="0">
                <a:solidFill>
                  <a:srgbClr val="C00000"/>
                </a:solidFill>
              </a:rPr>
              <a:t>LP)</a:t>
            </a:r>
            <a:endParaRPr lang="es-ES" sz="2800" b="1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endParaRPr lang="es-ES" sz="2800" b="1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La concesión de la patente se hace sin perjuicio de los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r>
              <a:rPr lang="es-ES" sz="2800" b="1" dirty="0">
                <a:solidFill>
                  <a:schemeClr val="folHlink"/>
                </a:solidFill>
              </a:rPr>
              <a:t>d</a:t>
            </a:r>
            <a:r>
              <a:rPr lang="es-ES" sz="2800" b="1" dirty="0" smtClean="0">
                <a:solidFill>
                  <a:schemeClr val="folHlink"/>
                </a:solidFill>
              </a:rPr>
              <a:t>erechos de tercero y sin garantía del Estado en cuanto a la validez de la misma y a la utilidad del objeto sobre</a:t>
            </a: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el que recae (art. 40.1 LP)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8219132" cy="1216025"/>
          </a:xfrm>
        </p:spPr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CAMBIO DE MODALIDAD (art. 51 LP)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635124" y="1989138"/>
            <a:ext cx="9505056" cy="319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endParaRPr lang="es-ES" sz="2800" b="1" u="sng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chemeClr val="folHlink"/>
                </a:solidFill>
              </a:rPr>
              <a:t> </a:t>
            </a:r>
            <a:r>
              <a:rPr lang="es-ES" sz="2800" b="1" dirty="0">
                <a:solidFill>
                  <a:srgbClr val="002060"/>
                </a:solidFill>
              </a:rPr>
              <a:t>En cualquier momento anterior a la finalización del examen </a:t>
            </a:r>
            <a:r>
              <a:rPr lang="es-ES" sz="2800" b="1" dirty="0" smtClean="0">
                <a:solidFill>
                  <a:srgbClr val="002060"/>
                </a:solidFill>
              </a:rPr>
              <a:t>sustantivo, podrá pedirse </a:t>
            </a:r>
            <a:r>
              <a:rPr lang="es-ES" sz="2800" b="1" dirty="0">
                <a:solidFill>
                  <a:srgbClr val="002060"/>
                </a:solidFill>
              </a:rPr>
              <a:t>la transformación de su solicitud de modo que el objeto de la misma quede protegido bajo un título distinto de Propiedad Industrial</a:t>
            </a:r>
            <a:r>
              <a:rPr lang="es-ES" sz="2800" b="1" dirty="0" smtClean="0">
                <a:solidFill>
                  <a:srgbClr val="002060"/>
                </a:solidFill>
              </a:rPr>
              <a:t>.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endParaRPr lang="es-ES" sz="2800" b="1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chemeClr val="folHlink"/>
                </a:solidFill>
              </a:rPr>
              <a:t> OEPM puede proponer el cambio de modalidad de la solicitud al interesado.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793"/>
            <a:ext cx="2664296" cy="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5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8219132" cy="1216025"/>
          </a:xfrm>
        </p:spPr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NORMAS SOBRE TITULARIDAD 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622300" y="2230664"/>
            <a:ext cx="9505056" cy="2806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endParaRPr lang="es-ES" sz="2800" b="1" u="sng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rgbClr val="002060"/>
                </a:solidFill>
              </a:rPr>
              <a:t>Las </a:t>
            </a:r>
            <a:r>
              <a:rPr lang="es-ES" sz="2800" b="1" dirty="0" smtClean="0">
                <a:solidFill>
                  <a:srgbClr val="C00000"/>
                </a:solidFill>
              </a:rPr>
              <a:t>invenciones laborales </a:t>
            </a:r>
            <a:r>
              <a:rPr lang="es-ES" sz="2800" b="1" dirty="0" smtClean="0">
                <a:solidFill>
                  <a:srgbClr val="002060"/>
                </a:solidFill>
              </a:rPr>
              <a:t>en principio pertenecen al empresario (art. 15 ss. LP)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endParaRPr lang="es-ES" sz="2800" b="1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rgbClr val="002060"/>
                </a:solidFill>
              </a:rPr>
              <a:t>Las invenciones </a:t>
            </a:r>
            <a:r>
              <a:rPr lang="es-ES" sz="2800" b="1" dirty="0">
                <a:solidFill>
                  <a:srgbClr val="002060"/>
                </a:solidFill>
              </a:rPr>
              <a:t>realizadas por el </a:t>
            </a:r>
            <a:r>
              <a:rPr lang="es-ES" sz="2800" b="1" dirty="0">
                <a:solidFill>
                  <a:srgbClr val="C00000"/>
                </a:solidFill>
              </a:rPr>
              <a:t>personal investigador </a:t>
            </a:r>
            <a:r>
              <a:rPr lang="es-ES" sz="2800" b="1" dirty="0">
                <a:solidFill>
                  <a:srgbClr val="002060"/>
                </a:solidFill>
              </a:rPr>
              <a:t>de las Universidades Públicas y de los Entes Públicos de Investigación </a:t>
            </a:r>
            <a:r>
              <a:rPr lang="es-ES" sz="2800" b="1" dirty="0" smtClean="0">
                <a:solidFill>
                  <a:srgbClr val="002060"/>
                </a:solidFill>
              </a:rPr>
              <a:t>pertenecen a estas entidades (art. 21 LP).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224" y="77788"/>
            <a:ext cx="2664296" cy="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3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6202908" cy="1216025"/>
          </a:xfrm>
        </p:spPr>
        <p:txBody>
          <a:bodyPr/>
          <a:lstStyle/>
          <a:p>
            <a:pPr algn="just" eaLnBrk="1" hangingPunct="1"/>
            <a: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  <a:t>ÁMBITO DE PROTECCIÓN DE </a:t>
            </a:r>
            <a:b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</a:br>
            <a: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  <a:t>LA PATENTE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632520" y="1556792"/>
            <a:ext cx="9505056" cy="4745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endParaRPr lang="es-ES" sz="2800" b="1" u="sng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chemeClr val="folHlink"/>
                </a:solidFill>
              </a:rPr>
              <a:t> 20 años improrrogables desde la fecha de presentación de la solicitud, pero produce los efectos desde el día de publicación de la concesión  </a:t>
            </a:r>
            <a:r>
              <a:rPr lang="es-ES" sz="2800" dirty="0" smtClean="0">
                <a:solidFill>
                  <a:srgbClr val="FF0000"/>
                </a:solidFill>
              </a:rPr>
              <a:t>(posibilidad de CCP para medicamentos y productos fitosanitarios)</a:t>
            </a:r>
            <a:endParaRPr lang="es-ES" sz="2800" b="1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endParaRPr lang="es-ES" sz="2800" b="1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Derecho de uso (siempre con autorización en caso de patente dependiente que son muy habituales en biotecnología)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endParaRPr lang="es-ES" sz="2800" b="1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Derecho a impedir a terceros el uso sin su autorización (</a:t>
            </a:r>
            <a:r>
              <a:rPr lang="es-ES" sz="2800" b="1" i="1" dirty="0" err="1" smtClean="0">
                <a:solidFill>
                  <a:schemeClr val="folHlink"/>
                </a:solidFill>
              </a:rPr>
              <a:t>ius</a:t>
            </a:r>
            <a:r>
              <a:rPr lang="es-ES" sz="2800" b="1" i="1" dirty="0" smtClean="0">
                <a:solidFill>
                  <a:schemeClr val="folHlink"/>
                </a:solidFill>
              </a:rPr>
              <a:t> </a:t>
            </a:r>
            <a:r>
              <a:rPr lang="es-ES" sz="2800" b="1" i="1" dirty="0" err="1" smtClean="0">
                <a:solidFill>
                  <a:schemeClr val="folHlink"/>
                </a:solidFill>
              </a:rPr>
              <a:t>prohibendi</a:t>
            </a:r>
            <a:r>
              <a:rPr lang="es-ES" sz="2800" b="1" i="1" dirty="0" smtClean="0">
                <a:solidFill>
                  <a:schemeClr val="folHlink"/>
                </a:solidFill>
              </a:rPr>
              <a:t>)</a:t>
            </a:r>
            <a:endParaRPr lang="es-ES" sz="2800" b="1" dirty="0" smtClean="0">
              <a:solidFill>
                <a:schemeClr val="folHlink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232" y="152017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6130900" cy="1216025"/>
          </a:xfrm>
        </p:spPr>
        <p:txBody>
          <a:bodyPr/>
          <a:lstStyle/>
          <a:p>
            <a:pPr algn="just" eaLnBrk="1" hangingPunct="1"/>
            <a: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  <a:t>ÁMBITO DE PROTECCIÓN</a:t>
            </a:r>
            <a:b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</a:br>
            <a:r>
              <a:rPr lang="es-ES" sz="3200" b="1" i="1" u="sng" noProof="1" smtClean="0">
                <a:solidFill>
                  <a:schemeClr val="folHlink"/>
                </a:solidFill>
                <a:latin typeface="Garamond" pitchFamily="18" charset="0"/>
              </a:rPr>
              <a:t>IUS PROHIBENDI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400944" y="1844824"/>
            <a:ext cx="9505056" cy="4358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endParaRPr lang="es-ES" sz="2800" b="1" u="sng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chemeClr val="folHlink"/>
                </a:solidFill>
              </a:rPr>
              <a:t> </a:t>
            </a:r>
            <a:r>
              <a:rPr lang="es-ES" sz="2800" b="1" dirty="0">
                <a:solidFill>
                  <a:schemeClr val="folHlink"/>
                </a:solidFill>
              </a:rPr>
              <a:t>F</a:t>
            </a:r>
            <a:r>
              <a:rPr lang="es-ES" sz="2800" b="1" dirty="0" smtClean="0">
                <a:solidFill>
                  <a:schemeClr val="folHlink"/>
                </a:solidFill>
              </a:rPr>
              <a:t>abricación, ofrecimiento, introducción en el comercio o utilización de un producto objeto de la patente, o la importación o posesión para alguno de esos fines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Utilización de un procedimiento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Fabricación, ofrecimiento, introducción en el comercio o utilización de un producto directamente obtenido por un procedimiento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rgbClr val="FF0000"/>
                </a:solidFill>
              </a:rPr>
              <a:t>Especialidad materia biológica: </a:t>
            </a:r>
            <a:r>
              <a:rPr lang="es-ES" sz="2800" b="1" dirty="0" smtClean="0">
                <a:solidFill>
                  <a:schemeClr val="folHlink"/>
                </a:solidFill>
              </a:rPr>
              <a:t>extensión a la materia obtenida por multiplicación o reproducción o a la materia que incorpora el producto con información genética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776536" y="1484784"/>
            <a:ext cx="4501617" cy="93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endParaRPr lang="es-ES" b="1" i="1" dirty="0" smtClean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</a:pPr>
            <a:r>
              <a:rPr lang="es-ES" sz="2800" b="1" dirty="0" smtClean="0">
                <a:solidFill>
                  <a:schemeClr val="accent2"/>
                </a:solidFill>
              </a:rPr>
              <a:t>Art. 59 LP: </a:t>
            </a:r>
            <a:r>
              <a:rPr lang="es-ES" sz="2800" dirty="0" smtClean="0">
                <a:solidFill>
                  <a:schemeClr val="folHlink"/>
                </a:solidFill>
              </a:rPr>
              <a:t>derecho a impedir:</a:t>
            </a:r>
          </a:p>
          <a:p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216" y="160299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6274916" cy="1216025"/>
          </a:xfrm>
        </p:spPr>
        <p:txBody>
          <a:bodyPr/>
          <a:lstStyle/>
          <a:p>
            <a:pPr algn="just" eaLnBrk="1" hangingPunct="1"/>
            <a: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  <a:t>ÁMBITO DE PROTECCIÓN</a:t>
            </a:r>
            <a:b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</a:br>
            <a:r>
              <a:rPr lang="es-ES" sz="3200" b="1" i="1" u="sng" noProof="1" smtClean="0">
                <a:solidFill>
                  <a:schemeClr val="folHlink"/>
                </a:solidFill>
                <a:latin typeface="Garamond" pitchFamily="18" charset="0"/>
              </a:rPr>
              <a:t>IUS PROHIBENDI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400944" y="1844824"/>
            <a:ext cx="9505056" cy="513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endParaRPr lang="es-ES" sz="2800" b="1" u="sng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chemeClr val="folHlink"/>
                </a:solidFill>
              </a:rPr>
              <a:t> </a:t>
            </a:r>
            <a:r>
              <a:rPr lang="es-ES" sz="2800" dirty="0"/>
              <a:t> </a:t>
            </a:r>
            <a:r>
              <a:rPr lang="es-ES" sz="2800" b="1" dirty="0" smtClean="0">
                <a:solidFill>
                  <a:srgbClr val="002060"/>
                </a:solidFill>
              </a:rPr>
              <a:t>Ofrecer o entregar </a:t>
            </a:r>
            <a:r>
              <a:rPr lang="es-ES" sz="2800" b="1" dirty="0">
                <a:solidFill>
                  <a:srgbClr val="002060"/>
                </a:solidFill>
              </a:rPr>
              <a:t>medios para la puesta en práctica de la invención patentada relativos a un elemento esencial de la misma a personas no habilitadas para explotarla, cuando el tercero sabe o las circunstancias hacen evidente que tales medios son aptos para la puesta en práctica de la invención y están destinados a ella</a:t>
            </a:r>
            <a:r>
              <a:rPr lang="es-ES" sz="2800" b="1" dirty="0" smtClean="0">
                <a:solidFill>
                  <a:srgbClr val="002060"/>
                </a:solidFill>
              </a:rPr>
              <a:t>.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endParaRPr lang="es-ES" sz="2800" dirty="0" smtClean="0"/>
          </a:p>
          <a:p>
            <a:pPr lvl="1">
              <a:lnSpc>
                <a:spcPct val="90000"/>
              </a:lnSpc>
              <a:buClr>
                <a:schemeClr val="accent2"/>
              </a:buClr>
            </a:pPr>
            <a:r>
              <a:rPr lang="es-ES" sz="2800" dirty="0">
                <a:solidFill>
                  <a:srgbClr val="002060"/>
                </a:solidFill>
              </a:rPr>
              <a:t>N</a:t>
            </a:r>
            <a:r>
              <a:rPr lang="es-ES" sz="2800" dirty="0" smtClean="0">
                <a:solidFill>
                  <a:srgbClr val="002060"/>
                </a:solidFill>
              </a:rPr>
              <a:t>o </a:t>
            </a:r>
            <a:r>
              <a:rPr lang="es-ES" sz="2800" dirty="0">
                <a:solidFill>
                  <a:srgbClr val="002060"/>
                </a:solidFill>
              </a:rPr>
              <a:t>es aplicable cuando los medios a que el mismo se refiere sean productos que se encuentren corrientemente en el comercio, a no ser que el tercero incite a la persona a la que realiza la entrega a cometer actos prohibidos en el artículo anterior.</a:t>
            </a:r>
            <a:endParaRPr lang="es-ES" sz="2800" b="1" dirty="0" smtClean="0">
              <a:solidFill>
                <a:srgbClr val="002060"/>
              </a:solidFill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776536" y="1484784"/>
            <a:ext cx="7474290" cy="93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endParaRPr lang="es-ES" b="1" i="1" dirty="0" smtClean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</a:pPr>
            <a:r>
              <a:rPr lang="es-ES" sz="2800" b="1" dirty="0" smtClean="0">
                <a:solidFill>
                  <a:schemeClr val="accent2"/>
                </a:solidFill>
              </a:rPr>
              <a:t>Art. 60 LP: </a:t>
            </a:r>
            <a:r>
              <a:rPr lang="es-ES" sz="2800" dirty="0" smtClean="0">
                <a:solidFill>
                  <a:schemeClr val="folHlink"/>
                </a:solidFill>
              </a:rPr>
              <a:t>derecho a impedir explotación indirecta:</a:t>
            </a:r>
          </a:p>
          <a:p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240" y="184150"/>
            <a:ext cx="2664296" cy="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2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304800"/>
            <a:ext cx="6202908" cy="1216025"/>
          </a:xfrm>
        </p:spPr>
        <p:txBody>
          <a:bodyPr/>
          <a:lstStyle/>
          <a:p>
            <a:pPr algn="just" eaLnBrk="1" hangingPunct="1"/>
            <a: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  <a:t>ÁMBITO DE PROTECCIÓN</a:t>
            </a:r>
            <a:b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</a:br>
            <a:r>
              <a:rPr lang="es-ES" sz="3200" b="1" u="sng" noProof="1" smtClean="0">
                <a:solidFill>
                  <a:schemeClr val="folHlink"/>
                </a:solidFill>
                <a:latin typeface="Garamond" pitchFamily="18" charset="0"/>
              </a:rPr>
              <a:t>LÍMITES AL </a:t>
            </a:r>
            <a:r>
              <a:rPr lang="es-ES" sz="3200" b="1" i="1" u="sng" noProof="1" smtClean="0">
                <a:solidFill>
                  <a:schemeClr val="folHlink"/>
                </a:solidFill>
                <a:latin typeface="Garamond" pitchFamily="18" charset="0"/>
              </a:rPr>
              <a:t>IUS PROHIBENDI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400944" y="1844824"/>
            <a:ext cx="9505056" cy="513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endParaRPr lang="es-ES" sz="2800" b="1" u="sng" dirty="0" smtClean="0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 smtClean="0">
                <a:solidFill>
                  <a:schemeClr val="folHlink"/>
                </a:solidFill>
              </a:rPr>
              <a:t> Ámbito privado y fines no comerciales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Privilegio del agricultor y del ganadero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Fines experimentales (medicamentos genéricos)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chemeClr val="folHlink"/>
                </a:solidFill>
              </a:rPr>
              <a:t>Preparados de medicamentos en farmacia con receta médica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 dirty="0">
                <a:solidFill>
                  <a:schemeClr val="folHlink"/>
                </a:solidFill>
              </a:rPr>
              <a:t> </a:t>
            </a:r>
            <a:r>
              <a:rPr lang="es-ES" sz="2800" b="1" dirty="0" smtClean="0">
                <a:solidFill>
                  <a:srgbClr val="FF0000"/>
                </a:solidFill>
              </a:rPr>
              <a:t>Agotamiento comunitario: </a:t>
            </a:r>
            <a:r>
              <a:rPr lang="es-ES" sz="2800" b="1" dirty="0" smtClean="0">
                <a:solidFill>
                  <a:schemeClr val="folHlink"/>
                </a:solidFill>
              </a:rPr>
              <a:t>especialidad materia biológica al no extenderse el derecho de patentes a los actos relativos a la materia biológica obtenida por reproducción o multiplicación si son necesarios para la utilización  de la materia biológica comercializada, siempre que no se utilice posteriormente para nuevas reproducciones o </a:t>
            </a:r>
            <a:r>
              <a:rPr lang="es-ES" sz="2800" b="1" dirty="0" err="1" smtClean="0">
                <a:solidFill>
                  <a:schemeClr val="folHlink"/>
                </a:solidFill>
              </a:rPr>
              <a:t>multipolicaciones</a:t>
            </a:r>
            <a:r>
              <a:rPr lang="es-ES" sz="2800" b="1" dirty="0" smtClean="0">
                <a:solidFill>
                  <a:schemeClr val="folHlink"/>
                </a:solidFill>
              </a:rPr>
              <a:t>.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776536" y="1484784"/>
            <a:ext cx="5364033" cy="93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endParaRPr lang="es-ES" b="1" i="1" dirty="0" smtClean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</a:pPr>
            <a:r>
              <a:rPr lang="es-ES" sz="2800" b="1" dirty="0" smtClean="0">
                <a:solidFill>
                  <a:schemeClr val="accent2"/>
                </a:solidFill>
              </a:rPr>
              <a:t>Arts. 61 y ss. LP: </a:t>
            </a:r>
            <a:r>
              <a:rPr lang="es-ES" sz="2800" dirty="0" smtClean="0">
                <a:solidFill>
                  <a:schemeClr val="folHlink"/>
                </a:solidFill>
              </a:rPr>
              <a:t>derecho a impedir:</a:t>
            </a:r>
          </a:p>
          <a:p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232" y="18415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REIVINDICACIONES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1136650" y="1949450"/>
            <a:ext cx="7554913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s-ES" sz="2800" b="1" i="1">
                <a:solidFill>
                  <a:schemeClr val="folHlink"/>
                </a:solidFill>
              </a:rPr>
              <a:t>Las reivindicaciones definen definen el objeto </a:t>
            </a:r>
          </a:p>
          <a:p>
            <a:pPr>
              <a:lnSpc>
                <a:spcPct val="90000"/>
              </a:lnSpc>
            </a:pPr>
            <a:r>
              <a:rPr lang="es-ES" sz="2800" b="1" i="1">
                <a:solidFill>
                  <a:schemeClr val="folHlink"/>
                </a:solidFill>
              </a:rPr>
              <a:t>para el que se solicita la protección</a:t>
            </a:r>
          </a:p>
          <a:p>
            <a:pPr>
              <a:lnSpc>
                <a:spcPct val="90000"/>
              </a:lnSpc>
            </a:pPr>
            <a:endParaRPr lang="es-ES" sz="2800" b="1" i="1">
              <a:solidFill>
                <a:schemeClr val="folHlink"/>
              </a:solidFill>
            </a:endParaRPr>
          </a:p>
          <a:p>
            <a:pPr>
              <a:lnSpc>
                <a:spcPct val="90000"/>
              </a:lnSpc>
            </a:pPr>
            <a:r>
              <a:rPr lang="es-ES" sz="2800" b="1" u="sng">
                <a:solidFill>
                  <a:schemeClr val="folHlink"/>
                </a:solidFill>
              </a:rPr>
              <a:t>CLASES: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Reivindicaciones de producto</a:t>
            </a:r>
          </a:p>
          <a:p>
            <a:pPr lvl="3">
              <a:lnSpc>
                <a:spcPct val="90000"/>
              </a:lnSpc>
              <a:buClr>
                <a:schemeClr val="accent2"/>
              </a:buClr>
              <a:buSzPct val="80000"/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</a:t>
            </a:r>
            <a:r>
              <a:rPr lang="es-ES" sz="2800" i="1" noProof="1">
                <a:solidFill>
                  <a:schemeClr val="folHlink"/>
                </a:solidFill>
              </a:rPr>
              <a:t>product-by-process claims</a:t>
            </a:r>
            <a:endParaRPr lang="es-ES" sz="2800" b="1" noProof="1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Reivindicaciones de procedimiento</a:t>
            </a:r>
          </a:p>
          <a:p>
            <a:pPr lvl="3">
              <a:lnSpc>
                <a:spcPct val="90000"/>
              </a:lnSpc>
              <a:buClr>
                <a:schemeClr val="accent2"/>
              </a:buClr>
              <a:buSzPct val="80000"/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</a:t>
            </a:r>
            <a:r>
              <a:rPr lang="es-ES" sz="2800" i="1">
                <a:solidFill>
                  <a:schemeClr val="folHlink"/>
                </a:solidFill>
              </a:rPr>
              <a:t>reivindicaciones de procedimiento obtenido por un </a:t>
            </a:r>
          </a:p>
          <a:p>
            <a:pPr lvl="3">
              <a:lnSpc>
                <a:spcPct val="90000"/>
              </a:lnSpc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s-ES" sz="2800" b="1">
                <a:solidFill>
                  <a:schemeClr val="folHlink"/>
                </a:solidFill>
              </a:rPr>
              <a:t>   </a:t>
            </a:r>
            <a:r>
              <a:rPr lang="es-ES" sz="2800" i="1">
                <a:solidFill>
                  <a:schemeClr val="folHlink"/>
                </a:solidFill>
              </a:rPr>
              <a:t>dispositivo o medio</a:t>
            </a:r>
            <a:endParaRPr lang="es-ES" sz="2800" b="1">
              <a:solidFill>
                <a:schemeClr val="folHlink"/>
              </a:solidFill>
            </a:endParaRP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s-ES" sz="2800" b="1">
                <a:solidFill>
                  <a:schemeClr val="folHlink"/>
                </a:solidFill>
              </a:rPr>
              <a:t> Reivindicaciones de uso 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INFRACCIÓN DE PATENTE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992188" y="1916113"/>
            <a:ext cx="8805937" cy="470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s-ES" sz="2800" b="1" dirty="0">
                <a:solidFill>
                  <a:schemeClr val="accent2"/>
                </a:solidFill>
              </a:rPr>
              <a:t>Art. </a:t>
            </a:r>
            <a:r>
              <a:rPr lang="es-ES" sz="2800" b="1" dirty="0" smtClean="0">
                <a:solidFill>
                  <a:schemeClr val="accent2"/>
                </a:solidFill>
              </a:rPr>
              <a:t>68.1 </a:t>
            </a:r>
            <a:r>
              <a:rPr lang="es-ES" sz="2800" b="1" dirty="0">
                <a:solidFill>
                  <a:schemeClr val="accent2"/>
                </a:solidFill>
              </a:rPr>
              <a:t>LP</a:t>
            </a:r>
          </a:p>
          <a:p>
            <a:pPr lvl="1">
              <a:lnSpc>
                <a:spcPct val="80000"/>
              </a:lnSpc>
            </a:pPr>
            <a:r>
              <a:rPr lang="es-ES" sz="2800" b="1" i="1" dirty="0">
                <a:solidFill>
                  <a:schemeClr val="folHlink"/>
                </a:solidFill>
              </a:rPr>
              <a:t>“La extensión de la protección conferida por la</a:t>
            </a:r>
          </a:p>
          <a:p>
            <a:pPr lvl="1">
              <a:lnSpc>
                <a:spcPct val="80000"/>
              </a:lnSpc>
            </a:pPr>
            <a:r>
              <a:rPr lang="es-ES" sz="2800" b="1" i="1" dirty="0">
                <a:solidFill>
                  <a:schemeClr val="folHlink"/>
                </a:solidFill>
              </a:rPr>
              <a:t>o por la solicitud de la patente se determina por el </a:t>
            </a:r>
          </a:p>
          <a:p>
            <a:pPr lvl="1">
              <a:lnSpc>
                <a:spcPct val="80000"/>
              </a:lnSpc>
            </a:pPr>
            <a:r>
              <a:rPr lang="es-ES" sz="2800" b="1" i="1" dirty="0">
                <a:solidFill>
                  <a:schemeClr val="folHlink"/>
                </a:solidFill>
              </a:rPr>
              <a:t>contenido de las reivindicaciones. La descripción y</a:t>
            </a:r>
          </a:p>
          <a:p>
            <a:pPr lvl="1">
              <a:lnSpc>
                <a:spcPct val="80000"/>
              </a:lnSpc>
            </a:pPr>
            <a:r>
              <a:rPr lang="es-ES" sz="2800" b="1" i="1" dirty="0">
                <a:solidFill>
                  <a:schemeClr val="folHlink"/>
                </a:solidFill>
              </a:rPr>
              <a:t>los dibujos sirven, sin embargo, para la interpretación</a:t>
            </a:r>
          </a:p>
          <a:p>
            <a:pPr lvl="1">
              <a:lnSpc>
                <a:spcPct val="80000"/>
              </a:lnSpc>
            </a:pPr>
            <a:r>
              <a:rPr lang="es-ES" sz="2800" b="1" i="1" dirty="0">
                <a:solidFill>
                  <a:schemeClr val="folHlink"/>
                </a:solidFill>
              </a:rPr>
              <a:t>de las reivindicaciones”.</a:t>
            </a:r>
          </a:p>
          <a:p>
            <a:pPr>
              <a:lnSpc>
                <a:spcPct val="80000"/>
              </a:lnSpc>
            </a:pPr>
            <a:endParaRPr lang="es-ES" sz="2800" b="1" i="1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</a:pPr>
            <a:r>
              <a:rPr lang="es-ES" sz="2800" b="1" dirty="0">
                <a:solidFill>
                  <a:schemeClr val="accent2"/>
                </a:solidFill>
              </a:rPr>
              <a:t>Art. 69.1 CPE: </a:t>
            </a:r>
            <a:r>
              <a:rPr lang="es-ES" sz="2800" dirty="0">
                <a:solidFill>
                  <a:schemeClr val="folHlink"/>
                </a:solidFill>
              </a:rPr>
              <a:t>igual contenido</a:t>
            </a:r>
          </a:p>
          <a:p>
            <a:pPr>
              <a:lnSpc>
                <a:spcPct val="80000"/>
              </a:lnSpc>
            </a:pPr>
            <a:endParaRPr lang="es-ES" sz="2800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</a:pPr>
            <a:r>
              <a:rPr lang="es-ES" sz="2800" b="1" dirty="0">
                <a:solidFill>
                  <a:schemeClr val="accent2"/>
                </a:solidFill>
              </a:rPr>
              <a:t>Art. 2 Protocolo de Interpretación del </a:t>
            </a:r>
            <a:r>
              <a:rPr lang="es-ES" sz="2800" b="1" noProof="1">
                <a:solidFill>
                  <a:schemeClr val="accent2"/>
                </a:solidFill>
              </a:rPr>
              <a:t>art.</a:t>
            </a:r>
            <a:r>
              <a:rPr lang="es-ES" sz="2800" b="1" dirty="0">
                <a:solidFill>
                  <a:schemeClr val="accent2"/>
                </a:solidFill>
              </a:rPr>
              <a:t> 69 CPE:</a:t>
            </a:r>
          </a:p>
          <a:p>
            <a:pPr lvl="3">
              <a:lnSpc>
                <a:spcPct val="80000"/>
              </a:lnSpc>
            </a:pPr>
            <a:r>
              <a:rPr lang="es-ES" sz="2800" b="1" i="1" dirty="0">
                <a:solidFill>
                  <a:schemeClr val="folHlink"/>
                </a:solidFill>
              </a:rPr>
              <a:t>Teoría de los equivalentes</a:t>
            </a:r>
          </a:p>
          <a:p>
            <a:pPr>
              <a:lnSpc>
                <a:spcPct val="90000"/>
              </a:lnSpc>
            </a:pPr>
            <a:endParaRPr lang="es-ES" sz="2800" b="1" dirty="0">
              <a:solidFill>
                <a:schemeClr val="accent2"/>
              </a:solidFill>
            </a:endParaRPr>
          </a:p>
          <a:p>
            <a:endParaRPr lang="es-ES" sz="2800" b="1" dirty="0">
              <a:solidFill>
                <a:schemeClr val="accent2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INFRACCIÓN DE PATENTE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pic>
        <p:nvPicPr>
          <p:cNvPr id="16391" name="Picture 8" descr="epilady (3)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biLevel thresh="50000"/>
          </a:blip>
          <a:srcRect/>
          <a:stretch>
            <a:fillRect/>
          </a:stretch>
        </p:blipFill>
        <p:spPr bwMode="auto">
          <a:xfrm>
            <a:off x="4665663" y="1773238"/>
            <a:ext cx="3727450" cy="432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2" name="Text Box 11"/>
          <p:cNvSpPr txBox="1">
            <a:spLocks noChangeArrowheads="1"/>
          </p:cNvSpPr>
          <p:nvPr/>
        </p:nvSpPr>
        <p:spPr bwMode="auto">
          <a:xfrm>
            <a:off x="1568450" y="3068638"/>
            <a:ext cx="27924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" sz="2800" b="1" u="sng">
                <a:solidFill>
                  <a:schemeClr val="folHlink"/>
                </a:solidFill>
              </a:rPr>
              <a:t>CASO EPILADY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CASO EPILADY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704850" y="1844675"/>
            <a:ext cx="8280400" cy="474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s-ES" sz="2400" b="1">
                <a:solidFill>
                  <a:schemeClr val="accent2"/>
                </a:solidFill>
              </a:rPr>
              <a:t>REINO UNIDO: </a:t>
            </a:r>
            <a:r>
              <a:rPr lang="es-ES" sz="2400" b="1">
                <a:solidFill>
                  <a:schemeClr val="folHlink"/>
                </a:solidFill>
              </a:rPr>
              <a:t>NO INFRACCÍÓN</a:t>
            </a:r>
            <a:endParaRPr lang="es-ES" sz="2400" b="1">
              <a:solidFill>
                <a:schemeClr val="accent2"/>
              </a:solidFill>
            </a:endParaRPr>
          </a:p>
          <a:p>
            <a:pPr marL="342900" indent="-342900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s-ES" sz="2400" b="1" i="1">
              <a:solidFill>
                <a:schemeClr val="folHlink"/>
              </a:solidFill>
            </a:endParaRPr>
          </a:p>
          <a:p>
            <a:pPr marL="342900" indent="-342900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s-ES" sz="2400" b="1" i="1">
                <a:solidFill>
                  <a:schemeClr val="folHlink"/>
                </a:solidFill>
              </a:rPr>
              <a:t>Improver Corp. v. Remington consumer Products Ltd.</a:t>
            </a:r>
            <a:endParaRPr lang="es-ES" sz="2800" b="1" noProof="1">
              <a:solidFill>
                <a:schemeClr val="accent2"/>
              </a:solidFill>
            </a:endParaRPr>
          </a:p>
          <a:p>
            <a:pPr marL="342900" indent="-342900">
              <a:lnSpc>
                <a:spcPct val="80000"/>
              </a:lnSpc>
            </a:pPr>
            <a:r>
              <a:rPr lang="es-ES" sz="2800" b="1" noProof="1">
                <a:solidFill>
                  <a:schemeClr val="accent2"/>
                </a:solidFill>
              </a:rPr>
              <a:t>	</a:t>
            </a:r>
            <a:r>
              <a:rPr lang="es-ES" sz="2400">
                <a:solidFill>
                  <a:schemeClr val="folHlink"/>
                </a:solidFill>
              </a:rPr>
              <a:t>Decision of the Patents Court, May 16, 1989</a:t>
            </a:r>
          </a:p>
          <a:p>
            <a:pPr marL="342900" indent="-342900">
              <a:lnSpc>
                <a:spcPct val="80000"/>
              </a:lnSpc>
            </a:pPr>
            <a:endParaRPr lang="es-ES" sz="2400">
              <a:solidFill>
                <a:schemeClr val="folHlink"/>
              </a:solidFill>
            </a:endParaRPr>
          </a:p>
          <a:p>
            <a:pPr marL="342900" indent="-342900">
              <a:lnSpc>
                <a:spcPct val="80000"/>
              </a:lnSpc>
            </a:pPr>
            <a:r>
              <a:rPr lang="es-ES" sz="2400">
                <a:solidFill>
                  <a:schemeClr val="folHlink"/>
                </a:solidFill>
              </a:rPr>
              <a:t>	</a:t>
            </a:r>
            <a:r>
              <a:rPr lang="es-ES" sz="2000" b="1" noProof="1">
                <a:solidFill>
                  <a:schemeClr val="accent2"/>
                </a:solidFill>
              </a:rPr>
              <a:t>Test Catnic:</a:t>
            </a:r>
            <a:endParaRPr lang="es-ES" sz="2000" b="1" noProof="1">
              <a:solidFill>
                <a:schemeClr val="folHlink"/>
              </a:solidFill>
            </a:endParaRPr>
          </a:p>
          <a:p>
            <a:pPr marL="1257300" lvl="2" indent="-342900">
              <a:lnSpc>
                <a:spcPct val="80000"/>
              </a:lnSpc>
            </a:pPr>
            <a:endParaRPr lang="es-ES" sz="2000">
              <a:solidFill>
                <a:schemeClr val="folHlink"/>
              </a:solidFill>
            </a:endParaRPr>
          </a:p>
          <a:p>
            <a:pPr marL="800100" lvl="1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r>
              <a:rPr lang="es-ES" sz="2000" b="1">
                <a:solidFill>
                  <a:schemeClr val="folHlink"/>
                </a:solidFill>
              </a:rPr>
              <a:t> ¿Tiene la variación de la forma de realización un efecto esencial sobre el modo en que</a:t>
            </a:r>
            <a:r>
              <a:rPr lang="es-ES" b="1">
                <a:solidFill>
                  <a:schemeClr val="folHlink"/>
                </a:solidFill>
              </a:rPr>
              <a:t> funciona la invención?</a:t>
            </a:r>
          </a:p>
          <a:p>
            <a:pPr marL="342900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endParaRPr lang="es-ES" b="1">
              <a:solidFill>
                <a:schemeClr val="folHlink"/>
              </a:solidFill>
            </a:endParaRPr>
          </a:p>
          <a:p>
            <a:pPr marL="800100" lvl="1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r>
              <a:rPr lang="es-ES" b="1">
                <a:solidFill>
                  <a:schemeClr val="folHlink"/>
                </a:solidFill>
              </a:rPr>
              <a:t> ¿Hubiera conocido el experto en la materia que la variante de realización funciona del mismo modo?</a:t>
            </a:r>
          </a:p>
          <a:p>
            <a:pPr marL="342900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endParaRPr lang="es-ES" b="1">
              <a:solidFill>
                <a:schemeClr val="folHlink"/>
              </a:solidFill>
            </a:endParaRPr>
          </a:p>
          <a:p>
            <a:pPr marL="800100" lvl="1" indent="-342900">
              <a:lnSpc>
                <a:spcPct val="80000"/>
              </a:lnSpc>
              <a:buClr>
                <a:schemeClr val="accent2"/>
              </a:buClr>
              <a:buFontTx/>
              <a:buAutoNum type="arabicPeriod"/>
            </a:pPr>
            <a:r>
              <a:rPr lang="es-ES" b="1">
                <a:solidFill>
                  <a:schemeClr val="folHlink"/>
                </a:solidFill>
              </a:rPr>
              <a:t>¿Hubiera deducido el experto en la materia del texto de las reivindicaciones, que el titular de la patente únicamente había pedido protección para el estricto contenido de las reivindicaciones?</a:t>
            </a:r>
            <a:endParaRPr lang="es-ES" sz="2400">
              <a:solidFill>
                <a:schemeClr val="folHlink"/>
              </a:solidFill>
            </a:endParaRPr>
          </a:p>
          <a:p>
            <a:pPr marL="342900" indent="-342900">
              <a:lnSpc>
                <a:spcPct val="80000"/>
              </a:lnSpc>
            </a:pPr>
            <a:endParaRPr lang="es-ES" sz="2400">
              <a:solidFill>
                <a:schemeClr val="folHlink"/>
              </a:solidFill>
            </a:endParaRPr>
          </a:p>
          <a:p>
            <a:pPr marL="342900" indent="-342900">
              <a:lnSpc>
                <a:spcPct val="80000"/>
              </a:lnSpc>
            </a:pPr>
            <a:endParaRPr lang="es-ES" sz="2400" noProof="1">
              <a:solidFill>
                <a:schemeClr val="folHlink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smtClean="0">
                <a:solidFill>
                  <a:schemeClr val="folHlink"/>
                </a:solidFill>
                <a:latin typeface="Garamond" pitchFamily="18" charset="0"/>
              </a:rPr>
              <a:t>CASO EPILADY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704850" y="1844675"/>
            <a:ext cx="8280400" cy="467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s-ES" sz="2400" b="1" u="sng">
                <a:solidFill>
                  <a:schemeClr val="accent2"/>
                </a:solidFill>
              </a:rPr>
              <a:t>ALEMANIA</a:t>
            </a:r>
            <a:r>
              <a:rPr lang="es-ES" sz="2400" b="1">
                <a:solidFill>
                  <a:schemeClr val="accent2"/>
                </a:solidFill>
              </a:rPr>
              <a:t>: </a:t>
            </a:r>
            <a:r>
              <a:rPr lang="es-ES" sz="2400" b="1">
                <a:solidFill>
                  <a:schemeClr val="folHlink"/>
                </a:solidFill>
              </a:rPr>
              <a:t>INFRACCÍÓN</a:t>
            </a:r>
            <a:endParaRPr lang="es-ES" sz="2400" b="1">
              <a:solidFill>
                <a:schemeClr val="accent2"/>
              </a:solidFill>
            </a:endParaRPr>
          </a:p>
          <a:p>
            <a:pPr marL="342900" indent="-342900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s-ES" sz="2400" b="1" i="1">
              <a:solidFill>
                <a:schemeClr val="folHlink"/>
              </a:solidFill>
            </a:endParaRPr>
          </a:p>
          <a:p>
            <a:pPr marL="342900" indent="-342900">
              <a:lnSpc>
                <a:spcPct val="70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s-ES" sz="2000" b="1" i="1">
                <a:solidFill>
                  <a:schemeClr val="folHlink"/>
                </a:solidFill>
              </a:rPr>
              <a:t>Sentencia del Oberlandesgericht de Düsseldorf de 27-X-1988</a:t>
            </a:r>
            <a:endParaRPr lang="es-ES" sz="2000" b="1" noProof="1">
              <a:solidFill>
                <a:schemeClr val="accent2"/>
              </a:solidFill>
            </a:endParaRPr>
          </a:p>
          <a:p>
            <a:pPr marL="342900" indent="-342900">
              <a:lnSpc>
                <a:spcPct val="70000"/>
              </a:lnSpc>
            </a:pPr>
            <a:r>
              <a:rPr lang="es-ES" sz="2000" b="1" noProof="1">
                <a:solidFill>
                  <a:schemeClr val="accent2"/>
                </a:solidFill>
              </a:rPr>
              <a:t>	</a:t>
            </a:r>
            <a:r>
              <a:rPr lang="es-ES" sz="2000">
                <a:solidFill>
                  <a:schemeClr val="folHlink"/>
                </a:solidFill>
              </a:rPr>
              <a:t>Medidas cautelares: no infracción</a:t>
            </a:r>
          </a:p>
          <a:p>
            <a:pPr marL="342900" indent="-342900">
              <a:lnSpc>
                <a:spcPct val="70000"/>
              </a:lnSpc>
            </a:pPr>
            <a:endParaRPr lang="es-ES" sz="2000">
              <a:solidFill>
                <a:schemeClr val="folHlink"/>
              </a:solidFill>
            </a:endParaRPr>
          </a:p>
          <a:p>
            <a:pPr marL="342900" indent="-342900">
              <a:lnSpc>
                <a:spcPct val="70000"/>
              </a:lnSpc>
            </a:pPr>
            <a:r>
              <a:rPr lang="es-ES" sz="2400" b="1" i="1">
                <a:solidFill>
                  <a:schemeClr val="folHlink"/>
                </a:solidFill>
              </a:rPr>
              <a:t>Sentencia del Oberlandesgericht de Düsseldorf de 21-XI-1991</a:t>
            </a:r>
            <a:endParaRPr lang="es-ES" sz="2400" b="1" noProof="1">
              <a:solidFill>
                <a:schemeClr val="accent2"/>
              </a:solidFill>
            </a:endParaRPr>
          </a:p>
          <a:p>
            <a:pPr marL="800100" lvl="1" indent="-342900">
              <a:lnSpc>
                <a:spcPct val="70000"/>
              </a:lnSpc>
            </a:pPr>
            <a:r>
              <a:rPr lang="es-ES" sz="2400">
                <a:solidFill>
                  <a:schemeClr val="folHlink"/>
                </a:solidFill>
              </a:rPr>
              <a:t>Procedimiento principal: infracción</a:t>
            </a:r>
          </a:p>
          <a:p>
            <a:pPr marL="342900" indent="-342900">
              <a:lnSpc>
                <a:spcPct val="80000"/>
              </a:lnSpc>
            </a:pPr>
            <a:endParaRPr lang="es-ES" b="1">
              <a:solidFill>
                <a:schemeClr val="folHlink"/>
              </a:solidFill>
            </a:endParaRPr>
          </a:p>
          <a:p>
            <a:pPr marL="1257300" lvl="2" indent="-342900">
              <a:lnSpc>
                <a:spcPct val="80000"/>
              </a:lnSpc>
            </a:pPr>
            <a:r>
              <a:rPr lang="es-ES" sz="2400" b="1">
                <a:solidFill>
                  <a:schemeClr val="accent2"/>
                </a:solidFill>
              </a:rPr>
              <a:t>Requisitos de la infracción: </a:t>
            </a:r>
          </a:p>
          <a:p>
            <a:pPr marL="800100" lvl="1" indent="-342900">
              <a:lnSpc>
                <a:spcPct val="80000"/>
              </a:lnSpc>
            </a:pPr>
            <a:endParaRPr lang="es-ES" sz="2400" b="1">
              <a:solidFill>
                <a:schemeClr val="accent2"/>
              </a:solidFill>
            </a:endParaRPr>
          </a:p>
          <a:p>
            <a:pPr marL="1714500" lvl="3" indent="-342900">
              <a:lnSpc>
                <a:spcPct val="80000"/>
              </a:lnSpc>
              <a:buClr>
                <a:schemeClr val="accent2"/>
              </a:buClr>
              <a:buSzPct val="80000"/>
              <a:buFont typeface="Wingdings" pitchFamily="2" charset="2"/>
              <a:buChar char="§"/>
            </a:pPr>
            <a:r>
              <a:rPr lang="es-ES" sz="2400" b="1">
                <a:solidFill>
                  <a:schemeClr val="folHlink"/>
                </a:solidFill>
              </a:rPr>
              <a:t>Igualdad en la función</a:t>
            </a:r>
          </a:p>
          <a:p>
            <a:pPr marL="1257300" lvl="2" indent="-342900">
              <a:lnSpc>
                <a:spcPct val="80000"/>
              </a:lnSpc>
              <a:buClr>
                <a:schemeClr val="accent2"/>
              </a:buClr>
              <a:buSzPct val="80000"/>
              <a:buFont typeface="Wingdings" pitchFamily="2" charset="2"/>
              <a:buChar char="§"/>
            </a:pPr>
            <a:endParaRPr lang="es-ES" sz="2400" b="1">
              <a:solidFill>
                <a:schemeClr val="folHlink"/>
              </a:solidFill>
            </a:endParaRPr>
          </a:p>
          <a:p>
            <a:pPr marL="1714500" lvl="3" indent="-342900">
              <a:lnSpc>
                <a:spcPct val="80000"/>
              </a:lnSpc>
              <a:buClr>
                <a:schemeClr val="accent2"/>
              </a:buClr>
              <a:buSzPct val="80000"/>
              <a:buFont typeface="Wingdings" pitchFamily="2" charset="2"/>
              <a:buChar char="§"/>
            </a:pPr>
            <a:r>
              <a:rPr lang="es-ES" sz="2400" b="1">
                <a:solidFill>
                  <a:schemeClr val="accent2"/>
                </a:solidFill>
              </a:rPr>
              <a:t>Y </a:t>
            </a:r>
            <a:r>
              <a:rPr lang="es-ES" sz="2400" b="1">
                <a:solidFill>
                  <a:schemeClr val="folHlink"/>
                </a:solidFill>
              </a:rPr>
              <a:t>falta de actividad inventiva con los conocimientos disponibles en la fecha de prioridad.</a:t>
            </a:r>
          </a:p>
          <a:p>
            <a:pPr marL="342900" indent="-342900">
              <a:lnSpc>
                <a:spcPct val="80000"/>
              </a:lnSpc>
            </a:pPr>
            <a:endParaRPr lang="es-ES" sz="2400">
              <a:solidFill>
                <a:schemeClr val="folHlink"/>
              </a:solidFill>
            </a:endParaRPr>
          </a:p>
          <a:p>
            <a:pPr marL="342900" indent="-342900">
              <a:lnSpc>
                <a:spcPct val="80000"/>
              </a:lnSpc>
            </a:pPr>
            <a:endParaRPr lang="es-ES" sz="2400" noProof="1">
              <a:solidFill>
                <a:schemeClr val="folHlink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s-ES" sz="3200" b="1" u="sng" dirty="0" smtClean="0">
                <a:solidFill>
                  <a:schemeClr val="folHlink"/>
                </a:solidFill>
                <a:latin typeface="Garamond" pitchFamily="18" charset="0"/>
              </a:rPr>
              <a:t>PARA AMPLIAR CONOCIMIENTOS</a:t>
            </a:r>
            <a:endParaRPr lang="es-ES" sz="3200" b="1" u="sng" noProof="1" smtClean="0">
              <a:solidFill>
                <a:schemeClr val="folHlink"/>
              </a:solidFill>
              <a:latin typeface="Garamond" pitchFamily="18" charset="0"/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0" y="-182563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15925" y="777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tabLst>
                <a:tab pos="2700338" algn="ctr"/>
                <a:tab pos="5400675" algn="r"/>
              </a:tabLst>
            </a:pPr>
            <a:endParaRPr lang="es-ES" noProof="1">
              <a:latin typeface="Arial" charset="0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920750" y="1989138"/>
            <a:ext cx="4105275" cy="219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None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sz="2400">
              <a:solidFill>
                <a:schemeClr val="folHlink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§"/>
            </a:pPr>
            <a:endParaRPr lang="es-ES" noProof="1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599084" y="2439658"/>
            <a:ext cx="8280400" cy="2456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80000"/>
              </a:lnSpc>
            </a:pPr>
            <a:r>
              <a:rPr lang="es-ES" sz="2400" dirty="0" smtClean="0">
                <a:solidFill>
                  <a:srgbClr val="0070C0"/>
                </a:solidFill>
              </a:rPr>
              <a:t>Se recomienda para ampliar conocimientos sobre aspectos puntuales que sean de interés del alumno utilizar el Kit de aprendizaje de la Oficina Europea de Patentes, disponible en lengua alemana, francesa e inglesa en el siguiente enlace:</a:t>
            </a:r>
          </a:p>
          <a:p>
            <a:pPr marL="342900" indent="-342900">
              <a:lnSpc>
                <a:spcPct val="80000"/>
              </a:lnSpc>
            </a:pPr>
            <a:endParaRPr lang="es-ES" sz="2400" dirty="0">
              <a:solidFill>
                <a:schemeClr val="folHlink"/>
              </a:solidFill>
            </a:endParaRPr>
          </a:p>
          <a:p>
            <a:pPr marL="342900" indent="-342900">
              <a:lnSpc>
                <a:spcPct val="80000"/>
              </a:lnSpc>
            </a:pPr>
            <a:r>
              <a:rPr lang="es-ES" sz="2400" dirty="0">
                <a:solidFill>
                  <a:schemeClr val="folHlink"/>
                </a:solidFill>
                <a:hlinkClick r:id="rId3"/>
              </a:rPr>
              <a:t>http://</a:t>
            </a:r>
            <a:r>
              <a:rPr lang="es-ES" sz="2400" dirty="0" smtClean="0">
                <a:solidFill>
                  <a:schemeClr val="folHlink"/>
                </a:solidFill>
                <a:hlinkClick r:id="rId3"/>
              </a:rPr>
              <a:t>www.epo.org/learning-events/materials/kit/download.html</a:t>
            </a:r>
            <a:endParaRPr lang="es-ES" sz="2400" dirty="0" smtClean="0">
              <a:solidFill>
                <a:schemeClr val="folHlink"/>
              </a:solidFill>
            </a:endParaRPr>
          </a:p>
          <a:p>
            <a:pPr marL="342900" indent="-342900">
              <a:lnSpc>
                <a:spcPct val="80000"/>
              </a:lnSpc>
            </a:pPr>
            <a:endParaRPr lang="es-ES" sz="2400" dirty="0">
              <a:solidFill>
                <a:schemeClr val="folHlink"/>
              </a:solidFill>
            </a:endParaRPr>
          </a:p>
          <a:p>
            <a:pPr marL="342900" indent="-342900">
              <a:lnSpc>
                <a:spcPct val="80000"/>
              </a:lnSpc>
            </a:pPr>
            <a:endParaRPr lang="es-ES" sz="2400" noProof="1">
              <a:solidFill>
                <a:schemeClr val="folHlink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208" y="188640"/>
            <a:ext cx="2664296" cy="9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6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erfil">
  <a:themeElements>
    <a:clrScheme name="Perfil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erfi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Perfil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fil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fil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3005</TotalTime>
  <Words>1655</Words>
  <Application>Microsoft Office PowerPoint</Application>
  <PresentationFormat>A4 (210 x 297 mm)</PresentationFormat>
  <Paragraphs>385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Arial</vt:lpstr>
      <vt:lpstr>Garamond</vt:lpstr>
      <vt:lpstr>Times New Roman</vt:lpstr>
      <vt:lpstr>Verdana</vt:lpstr>
      <vt:lpstr>Wingdings</vt:lpstr>
      <vt:lpstr>Perfil</vt:lpstr>
      <vt:lpstr>PROTECCIÓN DE LAS INVENCIONES</vt:lpstr>
      <vt:lpstr>FORMAS DE PROTECCIÓN</vt:lpstr>
      <vt:lpstr>RÉGIMEN LEGAL</vt:lpstr>
      <vt:lpstr>REQUISITOS POSITIVOS DE PATENTABILIDAD</vt:lpstr>
      <vt:lpstr>REQUISITOS POSITIVOS DE PATENTABILIDAD</vt:lpstr>
      <vt:lpstr>NO INVENCIONES</vt:lpstr>
      <vt:lpstr>EXCEPCIONES A LA PATENTABILIDAD</vt:lpstr>
      <vt:lpstr>EXCEPCIONES A LA PATENTABILIDAD</vt:lpstr>
      <vt:lpstr>EXCEPCIONES A LA PATENTABILIDAD</vt:lpstr>
      <vt:lpstr>APLICACIÓN INDUSTRIAL</vt:lpstr>
      <vt:lpstr>NOVEDAD</vt:lpstr>
      <vt:lpstr>NOVEDAD</vt:lpstr>
      <vt:lpstr>NOVEDAD</vt:lpstr>
      <vt:lpstr>ACTIVIDAD INVENTIVA</vt:lpstr>
      <vt:lpstr>NOVEDAD Y ACTIVIDAD INVENTIVA</vt:lpstr>
      <vt:lpstr>INFORME ESTADO DE LA TÉCNICA</vt:lpstr>
      <vt:lpstr>INFORME ESTADO DE LA TÉCNICA</vt:lpstr>
      <vt:lpstr>PROCEDIMIENTOS DE CONCESIÓN</vt:lpstr>
      <vt:lpstr>CAMBIO DE MODALIDAD (art. 51 LP)</vt:lpstr>
      <vt:lpstr>NORMAS SOBRE TITULARIDAD </vt:lpstr>
      <vt:lpstr>ÁMBITO DE PROTECCIÓN DE  LA PATENTE</vt:lpstr>
      <vt:lpstr>ÁMBITO DE PROTECCIÓN IUS PROHIBENDI</vt:lpstr>
      <vt:lpstr>ÁMBITO DE PROTECCIÓN IUS PROHIBENDI</vt:lpstr>
      <vt:lpstr>ÁMBITO DE PROTECCIÓN LÍMITES AL IUS PROHIBENDI</vt:lpstr>
      <vt:lpstr>REIVINDICACIONES</vt:lpstr>
      <vt:lpstr>INFRACCIÓN DE PATENTE</vt:lpstr>
      <vt:lpstr>INFRACCIÓN DE PATENTE</vt:lpstr>
      <vt:lpstr>CASO EPILADY</vt:lpstr>
      <vt:lpstr>CASO EPILADY</vt:lpstr>
      <vt:lpstr>PARA AMPLIAR CONOCIMIENTOS</vt:lpstr>
    </vt:vector>
  </TitlesOfParts>
  <Company>Casa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MARCAS, DISEÑO Y COMPETENCIA DESLEAL</dc:title>
  <dc:creator>Nacho</dc:creator>
  <cp:lastModifiedBy>Felipe</cp:lastModifiedBy>
  <cp:revision>191</cp:revision>
  <dcterms:created xsi:type="dcterms:W3CDTF">2003-02-09T22:04:23Z</dcterms:created>
  <dcterms:modified xsi:type="dcterms:W3CDTF">2018-02-21T21:59:54Z</dcterms:modified>
</cp:coreProperties>
</file>